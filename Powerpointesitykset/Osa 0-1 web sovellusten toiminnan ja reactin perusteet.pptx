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notesMasterIdLst>
    <p:notesMasterId r:id="rId23"/>
  </p:notesMasterIdLst>
  <p:sldIdLst>
    <p:sldId id="256" r:id="rId2"/>
    <p:sldId id="259" r:id="rId3"/>
    <p:sldId id="280" r:id="rId4"/>
    <p:sldId id="281" r:id="rId5"/>
    <p:sldId id="282" r:id="rId6"/>
    <p:sldId id="262" r:id="rId7"/>
    <p:sldId id="263" r:id="rId8"/>
    <p:sldId id="265" r:id="rId9"/>
    <p:sldId id="283" r:id="rId10"/>
    <p:sldId id="266" r:id="rId11"/>
    <p:sldId id="267" r:id="rId12"/>
    <p:sldId id="264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68" r:id="rId21"/>
    <p:sldId id="28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EDECA5-AF7E-4E6A-8A1D-68B5AA6D0D2B}" v="8" dt="2026-03-04T08:45:45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n Tähti" userId="93022ca6-48d3-45d5-93fd-11a630157718" providerId="ADAL" clId="{2EB14C7E-83AE-4578-A237-AFCB1C842C34}"/>
    <pc:docChg chg="undo custSel addSld delSld modSld sldOrd">
      <pc:chgData name="Linn Tähti" userId="93022ca6-48d3-45d5-93fd-11a630157718" providerId="ADAL" clId="{2EB14C7E-83AE-4578-A237-AFCB1C842C34}" dt="2026-03-12T08:54:58.040" v="3805" actId="20577"/>
      <pc:docMkLst>
        <pc:docMk/>
      </pc:docMkLst>
      <pc:sldChg chg="addSp delSp modSp mod delDesignElem">
        <pc:chgData name="Linn Tähti" userId="93022ca6-48d3-45d5-93fd-11a630157718" providerId="ADAL" clId="{2EB14C7E-83AE-4578-A237-AFCB1C842C34}" dt="2026-02-26T09:21:12.466" v="2685" actId="20577"/>
        <pc:sldMkLst>
          <pc:docMk/>
          <pc:sldMk cId="782385677" sldId="256"/>
        </pc:sldMkLst>
        <pc:spChg chg="mod">
          <ac:chgData name="Linn Tähti" userId="93022ca6-48d3-45d5-93fd-11a630157718" providerId="ADAL" clId="{2EB14C7E-83AE-4578-A237-AFCB1C842C34}" dt="2026-02-26T09:21:12.466" v="2685" actId="20577"/>
          <ac:spMkLst>
            <pc:docMk/>
            <pc:sldMk cId="782385677" sldId="256"/>
            <ac:spMk id="4" creationId="{C02DDD4D-80F9-2752-6B3A-8B278EB5B674}"/>
          </ac:spMkLst>
        </pc:spChg>
      </pc:sldChg>
      <pc:sldChg chg="addSp delSp modSp mod delDesignElem">
        <pc:chgData name="Linn Tähti" userId="93022ca6-48d3-45d5-93fd-11a630157718" providerId="ADAL" clId="{2EB14C7E-83AE-4578-A237-AFCB1C842C34}" dt="2026-02-26T09:18:41.168" v="2661" actId="20577"/>
        <pc:sldMkLst>
          <pc:docMk/>
          <pc:sldMk cId="1869386943" sldId="266"/>
        </pc:sldMkLst>
        <pc:spChg chg="mod">
          <ac:chgData name="Linn Tähti" userId="93022ca6-48d3-45d5-93fd-11a630157718" providerId="ADAL" clId="{2EB14C7E-83AE-4578-A237-AFCB1C842C34}" dt="2026-02-26T09:18:41.168" v="2661" actId="20577"/>
          <ac:spMkLst>
            <pc:docMk/>
            <pc:sldMk cId="1869386943" sldId="266"/>
            <ac:spMk id="10" creationId="{81854F78-9A2F-B6DF-88D6-46C5E8C211CA}"/>
          </ac:spMkLst>
        </pc:spChg>
      </pc:sldChg>
      <pc:sldChg chg="modSp mod ord">
        <pc:chgData name="Linn Tähti" userId="93022ca6-48d3-45d5-93fd-11a630157718" providerId="ADAL" clId="{2EB14C7E-83AE-4578-A237-AFCB1C842C34}" dt="2026-03-12T08:50:10.601" v="3053" actId="20577"/>
        <pc:sldMkLst>
          <pc:docMk/>
          <pc:sldMk cId="1229742509" sldId="268"/>
        </pc:sldMkLst>
        <pc:spChg chg="mod">
          <ac:chgData name="Linn Tähti" userId="93022ca6-48d3-45d5-93fd-11a630157718" providerId="ADAL" clId="{2EB14C7E-83AE-4578-A237-AFCB1C842C34}" dt="2026-03-12T08:50:10.601" v="3053" actId="20577"/>
          <ac:spMkLst>
            <pc:docMk/>
            <pc:sldMk cId="1229742509" sldId="268"/>
            <ac:spMk id="3" creationId="{2949911E-6E38-B6D6-B41D-61112C2B39A1}"/>
          </ac:spMkLst>
        </pc:spChg>
      </pc:sldChg>
      <pc:sldChg chg="modSp del mod">
        <pc:chgData name="Linn Tähti" userId="93022ca6-48d3-45d5-93fd-11a630157718" providerId="ADAL" clId="{2EB14C7E-83AE-4578-A237-AFCB1C842C34}" dt="2026-03-12T08:47:24.010" v="2974" actId="2696"/>
        <pc:sldMkLst>
          <pc:docMk/>
          <pc:sldMk cId="1158104573" sldId="269"/>
        </pc:sldMkLst>
      </pc:sldChg>
      <pc:sldChg chg="del">
        <pc:chgData name="Linn Tähti" userId="93022ca6-48d3-45d5-93fd-11a630157718" providerId="ADAL" clId="{2EB14C7E-83AE-4578-A237-AFCB1C842C34}" dt="2026-03-12T08:47:26.169" v="2975" actId="2696"/>
        <pc:sldMkLst>
          <pc:docMk/>
          <pc:sldMk cId="1525140209" sldId="270"/>
        </pc:sldMkLst>
      </pc:sldChg>
      <pc:sldChg chg="modSp del mod">
        <pc:chgData name="Linn Tähti" userId="93022ca6-48d3-45d5-93fd-11a630157718" providerId="ADAL" clId="{2EB14C7E-83AE-4578-A237-AFCB1C842C34}" dt="2026-03-12T08:47:32.877" v="2976" actId="2696"/>
        <pc:sldMkLst>
          <pc:docMk/>
          <pc:sldMk cId="3564068307" sldId="273"/>
        </pc:sldMkLst>
      </pc:sldChg>
      <pc:sldChg chg="addSp modSp mod modClrScheme chgLayout">
        <pc:chgData name="Linn Tähti" userId="93022ca6-48d3-45d5-93fd-11a630157718" providerId="ADAL" clId="{2EB14C7E-83AE-4578-A237-AFCB1C842C34}" dt="2026-03-12T08:43:07.121" v="2973" actId="20577"/>
        <pc:sldMkLst>
          <pc:docMk/>
          <pc:sldMk cId="3707941435" sldId="274"/>
        </pc:sldMkLst>
        <pc:spChg chg="mod ord">
          <ac:chgData name="Linn Tähti" userId="93022ca6-48d3-45d5-93fd-11a630157718" providerId="ADAL" clId="{2EB14C7E-83AE-4578-A237-AFCB1C842C34}" dt="2026-03-12T08:41:51.913" v="2798" actId="700"/>
          <ac:spMkLst>
            <pc:docMk/>
            <pc:sldMk cId="3707941435" sldId="274"/>
            <ac:spMk id="2" creationId="{1EFCD995-7B95-B633-1B71-835F584C4BCA}"/>
          </ac:spMkLst>
        </pc:spChg>
        <pc:spChg chg="mod ord">
          <ac:chgData name="Linn Tähti" userId="93022ca6-48d3-45d5-93fd-11a630157718" providerId="ADAL" clId="{2EB14C7E-83AE-4578-A237-AFCB1C842C34}" dt="2026-03-12T08:43:07.121" v="2973" actId="20577"/>
          <ac:spMkLst>
            <pc:docMk/>
            <pc:sldMk cId="3707941435" sldId="274"/>
            <ac:spMk id="3" creationId="{15CC144E-FDD1-BBC5-33D2-A5EE67608E42}"/>
          </ac:spMkLst>
        </pc:spChg>
        <pc:spChg chg="mod ord">
          <ac:chgData name="Linn Tähti" userId="93022ca6-48d3-45d5-93fd-11a630157718" providerId="ADAL" clId="{2EB14C7E-83AE-4578-A237-AFCB1C842C34}" dt="2026-03-12T08:41:51.913" v="2798" actId="700"/>
          <ac:spMkLst>
            <pc:docMk/>
            <pc:sldMk cId="3707941435" sldId="274"/>
            <ac:spMk id="4" creationId="{3EC34FDB-7F14-DECA-2EF9-E6923C50B285}"/>
          </ac:spMkLst>
        </pc:spChg>
        <pc:spChg chg="mod ord">
          <ac:chgData name="Linn Tähti" userId="93022ca6-48d3-45d5-93fd-11a630157718" providerId="ADAL" clId="{2EB14C7E-83AE-4578-A237-AFCB1C842C34}" dt="2026-03-12T08:41:51.913" v="2798" actId="700"/>
          <ac:spMkLst>
            <pc:docMk/>
            <pc:sldMk cId="3707941435" sldId="274"/>
            <ac:spMk id="5" creationId="{47B29CBD-64E2-8D19-72E1-55EFC266CE35}"/>
          </ac:spMkLst>
        </pc:spChg>
        <pc:spChg chg="add mod ord">
          <ac:chgData name="Linn Tähti" userId="93022ca6-48d3-45d5-93fd-11a630157718" providerId="ADAL" clId="{2EB14C7E-83AE-4578-A237-AFCB1C842C34}" dt="2026-03-12T08:43:00.266" v="2939" actId="27636"/>
          <ac:spMkLst>
            <pc:docMk/>
            <pc:sldMk cId="3707941435" sldId="274"/>
            <ac:spMk id="8" creationId="{EDDF07B4-B295-2EF9-8533-7EB2DC6EB926}"/>
          </ac:spMkLst>
        </pc:spChg>
        <pc:picChg chg="add mod">
          <ac:chgData name="Linn Tähti" userId="93022ca6-48d3-45d5-93fd-11a630157718" providerId="ADAL" clId="{2EB14C7E-83AE-4578-A237-AFCB1C842C34}" dt="2026-03-12T08:42:07.481" v="2802" actId="1076"/>
          <ac:picMkLst>
            <pc:docMk/>
            <pc:sldMk cId="3707941435" sldId="274"/>
            <ac:picMk id="7" creationId="{DC98AA5C-C822-CB6B-8DA9-D526628A8B97}"/>
          </ac:picMkLst>
        </pc:picChg>
      </pc:sldChg>
      <pc:sldChg chg="modSp mod">
        <pc:chgData name="Linn Tähti" userId="93022ca6-48d3-45d5-93fd-11a630157718" providerId="ADAL" clId="{2EB14C7E-83AE-4578-A237-AFCB1C842C34}" dt="2026-03-04T08:42:10.576" v="2783" actId="1076"/>
        <pc:sldMkLst>
          <pc:docMk/>
          <pc:sldMk cId="2039892430" sldId="275"/>
        </pc:sldMkLst>
        <pc:spChg chg="mod">
          <ac:chgData name="Linn Tähti" userId="93022ca6-48d3-45d5-93fd-11a630157718" providerId="ADAL" clId="{2EB14C7E-83AE-4578-A237-AFCB1C842C34}" dt="2026-03-04T08:42:05.411" v="2782" actId="20577"/>
          <ac:spMkLst>
            <pc:docMk/>
            <pc:sldMk cId="2039892430" sldId="275"/>
            <ac:spMk id="3" creationId="{218013DF-48FF-700A-D536-7A31D7F57950}"/>
          </ac:spMkLst>
        </pc:spChg>
        <pc:picChg chg="mod">
          <ac:chgData name="Linn Tähti" userId="93022ca6-48d3-45d5-93fd-11a630157718" providerId="ADAL" clId="{2EB14C7E-83AE-4578-A237-AFCB1C842C34}" dt="2026-03-04T08:42:10.576" v="2783" actId="1076"/>
          <ac:picMkLst>
            <pc:docMk/>
            <pc:sldMk cId="2039892430" sldId="275"/>
            <ac:picMk id="7" creationId="{BA1A6037-3AEA-A104-88A3-39B21C30E205}"/>
          </ac:picMkLst>
        </pc:picChg>
      </pc:sldChg>
      <pc:sldChg chg="delSp modSp mod delDesignElem">
        <pc:chgData name="Linn Tähti" userId="93022ca6-48d3-45d5-93fd-11a630157718" providerId="ADAL" clId="{2EB14C7E-83AE-4578-A237-AFCB1C842C34}" dt="2026-02-26T09:22:32.982" v="2690" actId="27636"/>
        <pc:sldMkLst>
          <pc:docMk/>
          <pc:sldMk cId="3083928115" sldId="276"/>
        </pc:sldMkLst>
        <pc:spChg chg="mod">
          <ac:chgData name="Linn Tähti" userId="93022ca6-48d3-45d5-93fd-11a630157718" providerId="ADAL" clId="{2EB14C7E-83AE-4578-A237-AFCB1C842C34}" dt="2026-02-26T09:22:25.637" v="2687" actId="1076"/>
          <ac:spMkLst>
            <pc:docMk/>
            <pc:sldMk cId="3083928115" sldId="276"/>
            <ac:spMk id="2" creationId="{CFB7A205-5F28-CA30-F08C-F4EC9CA05E95}"/>
          </ac:spMkLst>
        </pc:spChg>
        <pc:spChg chg="mod">
          <ac:chgData name="Linn Tähti" userId="93022ca6-48d3-45d5-93fd-11a630157718" providerId="ADAL" clId="{2EB14C7E-83AE-4578-A237-AFCB1C842C34}" dt="2026-02-26T09:22:32.982" v="2690" actId="27636"/>
          <ac:spMkLst>
            <pc:docMk/>
            <pc:sldMk cId="3083928115" sldId="276"/>
            <ac:spMk id="3" creationId="{7BA846AB-41FE-BE12-E7BC-A5BAADFEE7EB}"/>
          </ac:spMkLst>
        </pc:spChg>
      </pc:sldChg>
      <pc:sldChg chg="delSp modSp mod delDesignElem">
        <pc:chgData name="Linn Tähti" userId="93022ca6-48d3-45d5-93fd-11a630157718" providerId="ADAL" clId="{2EB14C7E-83AE-4578-A237-AFCB1C842C34}" dt="2026-02-26T09:22:46.830" v="2693" actId="27636"/>
        <pc:sldMkLst>
          <pc:docMk/>
          <pc:sldMk cId="2244796561" sldId="277"/>
        </pc:sldMkLst>
        <pc:spChg chg="mod">
          <ac:chgData name="Linn Tähti" userId="93022ca6-48d3-45d5-93fd-11a630157718" providerId="ADAL" clId="{2EB14C7E-83AE-4578-A237-AFCB1C842C34}" dt="2026-02-26T09:22:04.504" v="2686" actId="1076"/>
          <ac:spMkLst>
            <pc:docMk/>
            <pc:sldMk cId="2244796561" sldId="277"/>
            <ac:spMk id="2" creationId="{005DBD1F-B6CE-04F5-E941-A70F168D910E}"/>
          </ac:spMkLst>
        </pc:spChg>
        <pc:spChg chg="mod">
          <ac:chgData name="Linn Tähti" userId="93022ca6-48d3-45d5-93fd-11a630157718" providerId="ADAL" clId="{2EB14C7E-83AE-4578-A237-AFCB1C842C34}" dt="2026-02-26T09:22:46.830" v="2693" actId="27636"/>
          <ac:spMkLst>
            <pc:docMk/>
            <pc:sldMk cId="2244796561" sldId="277"/>
            <ac:spMk id="3" creationId="{21D8C529-4D37-1FA7-116F-2431D44B2B70}"/>
          </ac:spMkLst>
        </pc:spChg>
      </pc:sldChg>
      <pc:sldChg chg="delSp modSp add mod setBg delDesignElem">
        <pc:chgData name="Linn Tähti" userId="93022ca6-48d3-45d5-93fd-11a630157718" providerId="ADAL" clId="{2EB14C7E-83AE-4578-A237-AFCB1C842C34}" dt="2026-03-04T08:46:19.637" v="2794" actId="1076"/>
        <pc:sldMkLst>
          <pc:docMk/>
          <pc:sldMk cId="3234096279" sldId="283"/>
        </pc:sldMkLst>
        <pc:cxnChg chg="mod">
          <ac:chgData name="Linn Tähti" userId="93022ca6-48d3-45d5-93fd-11a630157718" providerId="ADAL" clId="{2EB14C7E-83AE-4578-A237-AFCB1C842C34}" dt="2026-03-04T08:46:07.751" v="2791" actId="14100"/>
          <ac:cxnSpMkLst>
            <pc:docMk/>
            <pc:sldMk cId="3234096279" sldId="283"/>
            <ac:cxnSpMk id="3" creationId="{8E6A2D2C-5425-CA5F-D0A1-A92B7852FECE}"/>
          </ac:cxnSpMkLst>
        </pc:cxnChg>
        <pc:cxnChg chg="mod">
          <ac:chgData name="Linn Tähti" userId="93022ca6-48d3-45d5-93fd-11a630157718" providerId="ADAL" clId="{2EB14C7E-83AE-4578-A237-AFCB1C842C34}" dt="2026-03-04T08:46:00.903" v="2789" actId="14100"/>
          <ac:cxnSpMkLst>
            <pc:docMk/>
            <pc:sldMk cId="3234096279" sldId="283"/>
            <ac:cxnSpMk id="4" creationId="{76574ABB-C61C-E9FD-92A1-FF3957A94CCF}"/>
          </ac:cxnSpMkLst>
        </pc:cxnChg>
        <pc:cxnChg chg="mod">
          <ac:chgData name="Linn Tähti" userId="93022ca6-48d3-45d5-93fd-11a630157718" providerId="ADAL" clId="{2EB14C7E-83AE-4578-A237-AFCB1C842C34}" dt="2026-03-04T08:46:15.440" v="2793" actId="14100"/>
          <ac:cxnSpMkLst>
            <pc:docMk/>
            <pc:sldMk cId="3234096279" sldId="283"/>
            <ac:cxnSpMk id="7" creationId="{279F0696-B1E9-4ADA-4EFE-663E15D11A99}"/>
          </ac:cxnSpMkLst>
        </pc:cxnChg>
        <pc:cxnChg chg="mod">
          <ac:chgData name="Linn Tähti" userId="93022ca6-48d3-45d5-93fd-11a630157718" providerId="ADAL" clId="{2EB14C7E-83AE-4578-A237-AFCB1C842C34}" dt="2026-03-04T08:46:19.637" v="2794" actId="1076"/>
          <ac:cxnSpMkLst>
            <pc:docMk/>
            <pc:sldMk cId="3234096279" sldId="283"/>
            <ac:cxnSpMk id="8" creationId="{3CCECE82-BAC8-4219-85D0-5EA0B8B0C238}"/>
          </ac:cxnSpMkLst>
        </pc:cxnChg>
      </pc:sldChg>
      <pc:sldChg chg="modSp new mod">
        <pc:chgData name="Linn Tähti" userId="93022ca6-48d3-45d5-93fd-11a630157718" providerId="ADAL" clId="{2EB14C7E-83AE-4578-A237-AFCB1C842C34}" dt="2026-03-12T08:54:58.040" v="3805" actId="20577"/>
        <pc:sldMkLst>
          <pc:docMk/>
          <pc:sldMk cId="2974502924" sldId="284"/>
        </pc:sldMkLst>
        <pc:spChg chg="mod">
          <ac:chgData name="Linn Tähti" userId="93022ca6-48d3-45d5-93fd-11a630157718" providerId="ADAL" clId="{2EB14C7E-83AE-4578-A237-AFCB1C842C34}" dt="2026-03-12T08:50:26.420" v="3073" actId="20577"/>
          <ac:spMkLst>
            <pc:docMk/>
            <pc:sldMk cId="2974502924" sldId="284"/>
            <ac:spMk id="2" creationId="{576D23C8-0C0F-5DF5-46B7-65B854E71ECF}"/>
          </ac:spMkLst>
        </pc:spChg>
        <pc:spChg chg="mod">
          <ac:chgData name="Linn Tähti" userId="93022ca6-48d3-45d5-93fd-11a630157718" providerId="ADAL" clId="{2EB14C7E-83AE-4578-A237-AFCB1C842C34}" dt="2026-03-12T08:54:58.040" v="3805" actId="20577"/>
          <ac:spMkLst>
            <pc:docMk/>
            <pc:sldMk cId="2974502924" sldId="284"/>
            <ac:spMk id="3" creationId="{C13E8D17-8BBF-2BAC-D67E-BB53F0A885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908D2-2465-4E58-B119-AEF4D496EE51}" type="datetimeFigureOut">
              <a:rPr lang="fi-FI" smtClean="0"/>
              <a:t>12.3.2026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425BCD-80C2-497E-BD66-06FE67FFAFC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14753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i-FI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i-FI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i-FI"/>
              <a:t>Muokkaa alaotsikon perustyyliä napsautt.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D107A-E523-487B-99F1-62EE1FCAE6D9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4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583E-5BD8-460D-8E46-744A39734FAF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4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Osan ylätunnis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9A723-2ED8-4800-A2DE-4C49CAB9FD8E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45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648A5-EFA9-47E2-B38B-071D1AF902E9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9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EA1D-B1F5-44F6-B790-4F64FC619D9F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792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B31D-C151-41C2-9F28-8D3485840205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9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78DB1-608C-4566-8381-EF8EB49B5666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1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D4AAC00-579E-4D6F-9519-23F83ED626FE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29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Lisää kuva napsauttamalla kuvaketta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357F3-861F-4886-B5C3-BBA437F0AB67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65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8477-BE32-42D8-A055-1120018BDC2C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82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FEA3D-12FA-4A0B-AF70-60506B8590A4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28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i-FI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i-FI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A408B97-5BED-4A1E-A22F-F09B00AA95C2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16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fi-FI" sz="8000"/>
              <a:t>Full Stack osa 0-1</a:t>
            </a:r>
            <a:br>
              <a:rPr lang="fi-FI" sz="8000"/>
            </a:br>
            <a:endParaRPr lang="fi-FI" sz="8000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 lnSpcReduction="10000"/>
          </a:bodyPr>
          <a:lstStyle/>
          <a:p>
            <a:pPr algn="r"/>
            <a:r>
              <a:rPr lang="fi-FI" dirty="0"/>
              <a:t>Web sovellusten toiminnan perusteet ja </a:t>
            </a:r>
            <a:r>
              <a:rPr lang="fi-FI" dirty="0" err="1"/>
              <a:t>React</a:t>
            </a:r>
            <a:r>
              <a:rPr lang="fi-FI" dirty="0"/>
              <a:t> perusteet</a:t>
            </a:r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C02DDD4D-80F9-2752-6B3A-8B278EB5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Linn Tähti, OMNIA  2026</a:t>
            </a:r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E7C982B1-5422-694D-51A7-4FE293170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385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51EC4A2-1F0A-BC06-8CD2-279A97CC6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51" y="1122363"/>
            <a:ext cx="11034695" cy="3174690"/>
          </a:xfrm>
        </p:spPr>
        <p:txBody>
          <a:bodyPr>
            <a:normAutofit/>
          </a:bodyPr>
          <a:lstStyle/>
          <a:p>
            <a:pPr algn="l"/>
            <a:r>
              <a:rPr lang="fi-FI" sz="8000"/>
              <a:t>Web sovellusten toiminnan perusteet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C027DB8D-C071-2782-8ABB-B1056FE08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651" y="4723637"/>
            <a:ext cx="11034695" cy="1481396"/>
          </a:xfrm>
        </p:spPr>
        <p:txBody>
          <a:bodyPr>
            <a:normAutofit/>
          </a:bodyPr>
          <a:lstStyle/>
          <a:p>
            <a:pPr algn="l"/>
            <a:endParaRPr lang="fi-FI" sz="2800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C0CF5F8C-0425-8FF0-3D1E-10D10277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Linn Tähti, OMNIA  2026</a:t>
            </a:r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363B3FCA-6539-4CB2-F114-BFA70807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287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F0AFF28-3789-BC89-B451-EDECBA28C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i-FI" sz="4000"/>
              <a:t>Selain ja palvelin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E36C88B-4012-9988-3AB8-708001F03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fi-FI" sz="2200"/>
              <a:t>Verkkosivut toimivat siten, että selain (kuten edge tai chrome) kommunikoi palvelimen kanssa</a:t>
            </a:r>
          </a:p>
          <a:p>
            <a:r>
              <a:rPr lang="fi-FI" sz="2200"/>
              <a:t>Palvelin voi olla fyysisellä tietokoneella tai pilvipalvelussa. Harjoitustehtävissä palvelin on tietokoneellasi käynnissä oleva node.js ohjelma</a:t>
            </a:r>
          </a:p>
          <a:p>
            <a:r>
              <a:rPr lang="fi-FI" sz="2200"/>
              <a:t>Kun avaat verkkosivun:</a:t>
            </a:r>
          </a:p>
          <a:p>
            <a:pPr marL="914400" lvl="1" indent="-457200">
              <a:buFont typeface="+mj-lt"/>
              <a:buAutoNum type="arabicPeriod"/>
            </a:pPr>
            <a:r>
              <a:rPr lang="fi-FI" sz="2200"/>
              <a:t>Selain lähettää palvelimelle HTTP-pyynnön</a:t>
            </a:r>
          </a:p>
          <a:p>
            <a:pPr marL="914400" lvl="1" indent="-457200">
              <a:buFont typeface="+mj-lt"/>
              <a:buAutoNum type="arabicPeriod"/>
            </a:pPr>
            <a:r>
              <a:rPr lang="fi-FI" sz="2200"/>
              <a:t>Palvelin vastaa pyyntöön ja lähettää selaimelle tiedot esimerkiksi HTML-sivusta, kuvista, css-tyyleistä ja javascript-koodista</a:t>
            </a:r>
          </a:p>
          <a:p>
            <a:pPr marL="914400" lvl="1" indent="-457200">
              <a:buFont typeface="+mj-lt"/>
              <a:buAutoNum type="arabicPeriod"/>
            </a:pPr>
            <a:r>
              <a:rPr lang="fi-FI" sz="2200"/>
              <a:t>Selain näyttää sivun palvelimelta tulleiden tietojen mukaan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F08CF02B-15FB-E442-7B12-00AF33C82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Linn Tähti, OMNIA  2026</a:t>
            </a:r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0CA46655-C727-CDD1-8531-0C530EC5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921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D75ED38-094C-8239-FB2E-B499C4B80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i-FI" sz="4000"/>
              <a:t>Kertausta: HTML, CSS, JavaScript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2BAE43B-AC98-8698-AED0-7CC70F5FC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fi-FI" sz="2200" b="1"/>
              <a:t>HTML</a:t>
            </a:r>
            <a:r>
              <a:rPr lang="fi-FI" sz="2200"/>
              <a:t>: html-koodi määrittelee sivun rakenteen</a:t>
            </a:r>
          </a:p>
          <a:p>
            <a:r>
              <a:rPr lang="fi-FI" sz="2200" b="1"/>
              <a:t>CSS</a:t>
            </a:r>
            <a:r>
              <a:rPr lang="fi-FI" sz="2200"/>
              <a:t>: määrittelee sivun ulkoasun, kuten värit, fontit ja marginaalit</a:t>
            </a:r>
          </a:p>
          <a:p>
            <a:r>
              <a:rPr lang="fi-FI" sz="2200" b="1"/>
              <a:t>JavaScript</a:t>
            </a:r>
            <a:r>
              <a:rPr lang="fi-FI" sz="2200"/>
              <a:t>: javascript-koodilla tehdään sivun toiminnallisuudet, kuten nappien toiminnot</a:t>
            </a:r>
            <a:endParaRPr lang="fi-FI" sz="2200" b="1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3FADDDFE-EC1B-8A91-BF3F-5D1B3B84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Linn Tähti, OMNIA  2026</a:t>
            </a:r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3B06D628-46A2-0ADC-FF0E-811F54914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720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6DDD2BA-F939-1F37-9984-FCEA5D3BC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i-FI" sz="3700"/>
              <a:t>Perinteinen web-sovellus vs. single page application eli SPA</a:t>
            </a:r>
          </a:p>
        </p:txBody>
      </p:sp>
      <p:sp>
        <p:nvSpPr>
          <p:cNvPr id="29" name="Sisällön paikkamerkki 2">
            <a:extLst>
              <a:ext uri="{FF2B5EF4-FFF2-40B4-BE49-F238E27FC236}">
                <a16:creationId xmlns:a16="http://schemas.microsoft.com/office/drawing/2014/main" id="{8746BFF8-4348-E2D9-04F0-204933266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fi-FI" sz="2200"/>
              <a:t>Perinteisissä web-sovelluksissa palvelin muodostaa HTML-sivun selaimelle valmiiksi. Tällöin koko sivu täytyy ladata uudelleen jokaisen muutoksen jälkeen.</a:t>
            </a:r>
          </a:p>
          <a:p>
            <a:r>
              <a:rPr lang="fi-FI" sz="2200"/>
              <a:t>Single page application –sovelluksissa sivu ladataan palvelimelta vain kerran. Muutokset ja lomakkeen lähetys hoidetaan selaimessa suoritettavalla JavaScript koodilla. </a:t>
            </a:r>
          </a:p>
          <a:p>
            <a:r>
              <a:rPr lang="fi-FI" sz="2200"/>
              <a:t>SPA-sovellukset ovat moderni tapa tehdä nettisivuja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C5B7CE3A-7252-63C5-8F47-1FD20EB6E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Linn Tähti, OMNIA  2026</a:t>
            </a:r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08EDE21E-C20D-2F23-BD88-0E87CB60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433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D6A6C82-B55C-9091-E6E2-C9AFF180D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51" y="1122363"/>
            <a:ext cx="11034695" cy="3174690"/>
          </a:xfrm>
        </p:spPr>
        <p:txBody>
          <a:bodyPr>
            <a:normAutofit/>
          </a:bodyPr>
          <a:lstStyle/>
          <a:p>
            <a:pPr algn="l"/>
            <a:r>
              <a:rPr lang="fi-FI" sz="8000"/>
              <a:t>React perusteet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1480070B-7420-F14F-A230-A50841D43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651" y="4723637"/>
            <a:ext cx="11034695" cy="1481396"/>
          </a:xfrm>
        </p:spPr>
        <p:txBody>
          <a:bodyPr>
            <a:normAutofit/>
          </a:bodyPr>
          <a:lstStyle/>
          <a:p>
            <a:pPr algn="l"/>
            <a:endParaRPr lang="fi-FI" sz="2800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12AA0221-EC51-8EF8-50DC-088F9E1B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Linn Tähti, OMNIA  2026</a:t>
            </a:r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AB6FA473-BE74-82A4-0DAC-763E95CCF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68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9EDC26B-45F4-4FF4-1A6C-9486E5A82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i-FI" sz="4000"/>
              <a:t>React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5FD8ECB-39A6-6CE5-5AB7-F074F83EC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fi-FI" sz="2200"/>
              <a:t>Javascript kirjasto käyttöliittymien tekoon</a:t>
            </a:r>
          </a:p>
          <a:p>
            <a:r>
              <a:rPr lang="fi-FI" sz="2200"/>
              <a:t>Suosittu ”Single Page Application”-sovelluksissa</a:t>
            </a:r>
          </a:p>
          <a:p>
            <a:r>
              <a:rPr lang="fi-FI" sz="2200"/>
              <a:t>Käyttää komponenttipohjaista arkkitehtuuria</a:t>
            </a:r>
          </a:p>
          <a:p>
            <a:pPr lvl="1"/>
            <a:r>
              <a:rPr lang="fi-FI" sz="2200"/>
              <a:t>Reactin perus ajatuksena on tehdä pieniä uudelleen käytettäviä komponentteja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C96CD141-B476-4F2D-764F-83AF823A3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Linn Tähti, OMNIA  2026</a:t>
            </a:r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439A0C91-5C61-BFD9-1B40-2760CFC0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383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32343CE-3952-DCDD-EAED-1183AECDD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Sovelluksen rakenne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9203418D-5963-C2DD-5CA2-B77957C17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sz="3600" dirty="0"/>
              <a:t>Tiedostot:</a:t>
            </a:r>
          </a:p>
          <a:p>
            <a:pPr lvl="1"/>
            <a:r>
              <a:rPr lang="fi-FI" sz="3200" dirty="0" err="1"/>
              <a:t>main.jsx</a:t>
            </a:r>
            <a:r>
              <a:rPr lang="fi-FI" sz="3200" dirty="0"/>
              <a:t>: käynnistää sovelluksen</a:t>
            </a:r>
          </a:p>
          <a:p>
            <a:pPr lvl="1"/>
            <a:r>
              <a:rPr lang="fi-FI" sz="3200" dirty="0" err="1"/>
              <a:t>App.jsx</a:t>
            </a:r>
            <a:r>
              <a:rPr lang="fi-FI" sz="3200" dirty="0"/>
              <a:t>: määrittelee pääkomponentin</a:t>
            </a:r>
          </a:p>
          <a:p>
            <a:r>
              <a:rPr lang="fi-FI" sz="3600" dirty="0" err="1"/>
              <a:t>React</a:t>
            </a:r>
            <a:r>
              <a:rPr lang="fi-FI" sz="3600" dirty="0"/>
              <a:t> komponentit määrittelevät sovelluksessa renderöitävän sisällön</a:t>
            </a:r>
          </a:p>
          <a:p>
            <a:r>
              <a:rPr lang="fi-FI" sz="3600" dirty="0"/>
              <a:t>Komponentit sisältävät yleensä </a:t>
            </a:r>
            <a:r>
              <a:rPr lang="fi-FI" sz="3600" dirty="0" err="1"/>
              <a:t>javaScript</a:t>
            </a:r>
            <a:r>
              <a:rPr lang="fi-FI" sz="3600" dirty="0"/>
              <a:t> koodia ja palauttavat JSX-elementin</a:t>
            </a:r>
          </a:p>
          <a:p>
            <a:pPr lvl="1"/>
            <a:r>
              <a:rPr lang="fi-FI" sz="3200" dirty="0"/>
              <a:t>JSX muistuttaa HTML:ää</a:t>
            </a:r>
          </a:p>
          <a:p>
            <a:r>
              <a:rPr lang="fi-FI" sz="3600" dirty="0"/>
              <a:t>Komponentit ovat käytännössä </a:t>
            </a:r>
            <a:r>
              <a:rPr lang="fi-FI" sz="3600" dirty="0" err="1"/>
              <a:t>javaScipt</a:t>
            </a:r>
            <a:r>
              <a:rPr lang="fi-FI" sz="3600" dirty="0"/>
              <a:t> funktioita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EE6E781E-C311-8248-C597-54C63CF39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44E159C7-FFA8-C0FE-53D6-EA06A697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9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E68B86A-FDFF-C8E8-41F3-280B75847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fi-FI" sz="4000" dirty="0">
                <a:ea typeface="Calibri Light"/>
                <a:cs typeface="Calibri Light"/>
              </a:rPr>
              <a:t>Sovelluksen rakenne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10531E8-FE04-33C8-707B-F3975BE89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 err="1">
                <a:ea typeface="Calibri"/>
                <a:cs typeface="Calibri"/>
              </a:rPr>
              <a:t>Esimerkissä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näkyy</a:t>
            </a:r>
            <a:r>
              <a:rPr lang="en-US" sz="2000" dirty="0">
                <a:ea typeface="Calibri"/>
                <a:cs typeface="Calibri"/>
              </a:rPr>
              <a:t> </a:t>
            </a:r>
            <a:r>
              <a:rPr lang="en-US" sz="2000" dirty="0" err="1">
                <a:ea typeface="Calibri"/>
                <a:cs typeface="Calibri"/>
              </a:rPr>
              <a:t>yksi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i="1" dirty="0" err="1">
                <a:ea typeface="Calibri"/>
                <a:cs typeface="Calibri"/>
              </a:rPr>
              <a:t>komponentti</a:t>
            </a:r>
            <a:r>
              <a:rPr lang="en-US" sz="2000" i="1" dirty="0">
                <a:ea typeface="Calibri"/>
                <a:cs typeface="Calibri"/>
              </a:rPr>
              <a:t> "</a:t>
            </a:r>
            <a:r>
              <a:rPr lang="en-US" sz="2000" dirty="0">
                <a:ea typeface="Calibri"/>
                <a:cs typeface="Calibri"/>
              </a:rPr>
              <a:t>App"</a:t>
            </a:r>
          </a:p>
          <a:p>
            <a:r>
              <a:rPr lang="en-US" sz="2000" err="1">
                <a:ea typeface="Calibri"/>
                <a:cs typeface="Calibri"/>
              </a:rPr>
              <a:t>Komponentissa</a:t>
            </a:r>
            <a:r>
              <a:rPr lang="en-US" sz="2000" dirty="0">
                <a:ea typeface="Calibri"/>
                <a:cs typeface="Calibri"/>
              </a:rPr>
              <a:t> on </a:t>
            </a:r>
            <a:r>
              <a:rPr lang="en-US" sz="2000" err="1">
                <a:ea typeface="Calibri"/>
                <a:cs typeface="Calibri"/>
              </a:rPr>
              <a:t>määritelty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useita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muuttujia</a:t>
            </a:r>
            <a:endParaRPr lang="en-US" sz="2000" dirty="0" err="1">
              <a:ea typeface="Calibri"/>
              <a:cs typeface="Calibri"/>
            </a:endParaRPr>
          </a:p>
          <a:p>
            <a:r>
              <a:rPr lang="en-US" sz="2000" err="1">
                <a:ea typeface="Calibri"/>
                <a:cs typeface="Calibri"/>
              </a:rPr>
              <a:t>Komponentti</a:t>
            </a:r>
            <a:r>
              <a:rPr lang="en-US" sz="2000" dirty="0">
                <a:ea typeface="Calibri"/>
                <a:cs typeface="Calibri"/>
              </a:rPr>
              <a:t> (</a:t>
            </a:r>
            <a:r>
              <a:rPr lang="en-US" sz="2000" err="1">
                <a:ea typeface="Calibri"/>
                <a:cs typeface="Calibri"/>
              </a:rPr>
              <a:t>funktio</a:t>
            </a:r>
            <a:r>
              <a:rPr lang="en-US" sz="2000" dirty="0">
                <a:ea typeface="Calibri"/>
                <a:cs typeface="Calibri"/>
              </a:rPr>
              <a:t>) </a:t>
            </a:r>
            <a:r>
              <a:rPr lang="en-US" sz="2000" err="1">
                <a:ea typeface="Calibri"/>
                <a:cs typeface="Calibri"/>
              </a:rPr>
              <a:t>palauttaa</a:t>
            </a:r>
            <a:r>
              <a:rPr lang="en-US" sz="2000" dirty="0">
                <a:ea typeface="Calibri"/>
                <a:cs typeface="Calibri"/>
              </a:rPr>
              <a:t> JSX-</a:t>
            </a:r>
            <a:r>
              <a:rPr lang="en-US" sz="2000" err="1">
                <a:ea typeface="Calibri"/>
                <a:cs typeface="Calibri"/>
              </a:rPr>
              <a:t>koodia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err="1">
                <a:ea typeface="Calibri"/>
                <a:cs typeface="Calibri"/>
              </a:rPr>
              <a:t>joka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renderöi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muttujien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arvoja</a:t>
            </a:r>
            <a:endParaRPr lang="en-US" sz="2000" dirty="0" err="1">
              <a:ea typeface="Calibri"/>
              <a:cs typeface="Calibri"/>
            </a:endParaRPr>
          </a:p>
          <a:p>
            <a:r>
              <a:rPr lang="en-US" sz="2000" dirty="0" err="1">
                <a:ea typeface="Calibri"/>
                <a:cs typeface="Calibri"/>
              </a:rPr>
              <a:t>Tidoston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lopussa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expotataan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komponentti</a:t>
            </a:r>
            <a:r>
              <a:rPr lang="en-US" sz="2000" dirty="0">
                <a:ea typeface="Calibri"/>
                <a:cs typeface="Calibri"/>
              </a:rPr>
              <a:t> "App"</a:t>
            </a:r>
          </a:p>
        </p:txBody>
      </p:sp>
      <p:pic>
        <p:nvPicPr>
          <p:cNvPr id="6" name="Sisällön paikkamerkki 5" descr="Kuva, joka sisältää kohteen teksti, kuvakaappaus, Fontti&#10;&#10;Tekoälyllä luotu sisältö saattaa olla virheellistä.">
            <a:extLst>
              <a:ext uri="{FF2B5EF4-FFF2-40B4-BE49-F238E27FC236}">
                <a16:creationId xmlns:a16="http://schemas.microsoft.com/office/drawing/2014/main" id="{07DE7E77-06FF-59B9-2506-C3FBB384D6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59"/>
          <a:stretch>
            <a:fillRect/>
          </a:stretch>
        </p:blipFill>
        <p:spPr>
          <a:xfrm>
            <a:off x="6085974" y="1"/>
            <a:ext cx="6102825" cy="6858000"/>
          </a:xfrm>
          <a:prstGeom prst="rect">
            <a:avLst/>
          </a:prstGeom>
        </p:spPr>
      </p:pic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F80F1BEA-1C7B-B636-C0E9-9157942DD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200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" name="Suora nuoliyhdysviiva 2">
            <a:extLst>
              <a:ext uri="{FF2B5EF4-FFF2-40B4-BE49-F238E27FC236}">
                <a16:creationId xmlns:a16="http://schemas.microsoft.com/office/drawing/2014/main" id="{8E6A2D2C-5425-CA5F-D0A1-A92B7852FECE}"/>
              </a:ext>
            </a:extLst>
          </p:cNvPr>
          <p:cNvCxnSpPr>
            <a:cxnSpLocks/>
          </p:cNvCxnSpPr>
          <p:nvPr/>
        </p:nvCxnSpPr>
        <p:spPr>
          <a:xfrm flipV="1">
            <a:off x="4785360" y="291305"/>
            <a:ext cx="1354751" cy="30005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" name="Suora nuoliyhdysviiva 3">
            <a:extLst>
              <a:ext uri="{FF2B5EF4-FFF2-40B4-BE49-F238E27FC236}">
                <a16:creationId xmlns:a16="http://schemas.microsoft.com/office/drawing/2014/main" id="{76574ABB-C61C-E9FD-92A1-FF3957A94CCF}"/>
              </a:ext>
            </a:extLst>
          </p:cNvPr>
          <p:cNvCxnSpPr>
            <a:cxnSpLocks/>
          </p:cNvCxnSpPr>
          <p:nvPr/>
        </p:nvCxnSpPr>
        <p:spPr>
          <a:xfrm flipV="1">
            <a:off x="4861916" y="1974716"/>
            <a:ext cx="1431829" cy="212689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uora nuoliyhdysviiva 6">
            <a:extLst>
              <a:ext uri="{FF2B5EF4-FFF2-40B4-BE49-F238E27FC236}">
                <a16:creationId xmlns:a16="http://schemas.microsoft.com/office/drawing/2014/main" id="{279F0696-B1E9-4ADA-4EFE-663E15D11A99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5408707" y="4060324"/>
            <a:ext cx="1093693" cy="48945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uora nuoliyhdysviiva 7">
            <a:extLst>
              <a:ext uri="{FF2B5EF4-FFF2-40B4-BE49-F238E27FC236}">
                <a16:creationId xmlns:a16="http://schemas.microsoft.com/office/drawing/2014/main" id="{3CCECE82-BAC8-4219-85D0-5EA0B8B0C238}"/>
              </a:ext>
            </a:extLst>
          </p:cNvPr>
          <p:cNvCxnSpPr>
            <a:cxnSpLocks/>
          </p:cNvCxnSpPr>
          <p:nvPr/>
        </p:nvCxnSpPr>
        <p:spPr>
          <a:xfrm>
            <a:off x="3732868" y="5676043"/>
            <a:ext cx="2258095" cy="89065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096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i-FI"/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1A03258A-52C6-4288-AA56-C3262A0D2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i-FI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tsikko 8">
            <a:extLst>
              <a:ext uri="{FF2B5EF4-FFF2-40B4-BE49-F238E27FC236}">
                <a16:creationId xmlns:a16="http://schemas.microsoft.com/office/drawing/2014/main" id="{A34773F9-302C-AC11-E8D4-63CCA9307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>
                <a:solidFill>
                  <a:schemeClr val="tx1">
                    <a:lumMod val="75000"/>
                    <a:lumOff val="25000"/>
                  </a:schemeClr>
                </a:solidFill>
              </a:rPr>
              <a:t>Esimerkki useasta komponentista</a:t>
            </a:r>
          </a:p>
        </p:txBody>
      </p:sp>
      <p:pic>
        <p:nvPicPr>
          <p:cNvPr id="7" name="Sisällön paikkamerkki 6" descr="Kuva, joka sisältää kohteen teksti, kuvakaappaus, ohjelmisto, Multimediaohjelmisto&#10;&#10;Kuvaus luotu automaattisesti">
            <a:extLst>
              <a:ext uri="{FF2B5EF4-FFF2-40B4-BE49-F238E27FC236}">
                <a16:creationId xmlns:a16="http://schemas.microsoft.com/office/drawing/2014/main" id="{B34239B1-82C1-90E3-116B-FDB83525CC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1740" b="1"/>
          <a:stretch>
            <a:fillRect/>
          </a:stretch>
        </p:blipFill>
        <p:spPr>
          <a:xfrm>
            <a:off x="633999" y="640081"/>
            <a:ext cx="6909801" cy="5314406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kstin paikkamerkki 9">
            <a:extLst>
              <a:ext uri="{FF2B5EF4-FFF2-40B4-BE49-F238E27FC236}">
                <a16:creationId xmlns:a16="http://schemas.microsoft.com/office/drawing/2014/main" id="{81854F78-9A2F-B6DF-88D6-46C5E8C21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59485" y="2198914"/>
            <a:ext cx="3690257" cy="3670180"/>
          </a:xfrm>
        </p:spPr>
        <p:txBody>
          <a:bodyPr vert="horz" lIns="0" tIns="45720" rIns="0" bIns="45720" rtlCol="0">
            <a:normAutofit/>
          </a:bodyPr>
          <a:lstStyle/>
          <a:p>
            <a:pPr indent="-228600">
              <a:buFont typeface="Calibri" panose="020F0502020204030204" pitchFamily="34" charset="0"/>
              <a:buChar char="•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Komponentti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“App”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renderöi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toisen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komponenttia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“Hello”</a:t>
            </a:r>
          </a:p>
          <a:p>
            <a:pPr indent="-228600">
              <a:buFont typeface="Calibri" panose="020F0502020204030204" pitchFamily="34" charset="0"/>
              <a:buChar char="•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Reactia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käyttäessä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suositaan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pieniä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komponentteja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joida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voidaan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uudelleen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käyttää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-228600">
              <a:buFont typeface="Calibri" panose="020F0502020204030204" pitchFamily="34" charset="0"/>
              <a:buChar char="•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Komponenttien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nimet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kirjoitetaan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aina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isolla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alkukirjaimella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</a:t>
            </a:r>
          </a:p>
          <a:p>
            <a:pPr indent="-228600">
              <a:buFont typeface="Calibri" panose="020F0502020204030204" pitchFamily="34" charset="0"/>
              <a:buChar char="•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Komponentin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palautusarvo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on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aina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JSX-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koodia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JSX-tapa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kirjoittaa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HTML-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koodia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javaScript-koodin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sisään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JSX-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käännetään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HTML:ksi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jotta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selain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voi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ymmärtää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sitä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417315-0A35-4882-ABD2-ABE3C89E5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i-FI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F7183BCD-394A-C648-69C5-6ED9E0FA1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  <a:defRPr/>
            </a:pPr>
            <a:r>
              <a:rPr lang="en-US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Linn Tähti, OMNIA  2026</a:t>
            </a:r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995AC4AF-2573-E795-975C-4C9C719B4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148CC95F-0247-41B6-91CF-DC97C76A7088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  <a:defRPr/>
              </a:pPr>
              <a:t>10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386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i-FI"/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1A03258A-52C6-4288-AA56-C3262A0D2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i-FI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tsikko 5">
            <a:extLst>
              <a:ext uri="{FF2B5EF4-FFF2-40B4-BE49-F238E27FC236}">
                <a16:creationId xmlns:a16="http://schemas.microsoft.com/office/drawing/2014/main" id="{BAC899CC-94A0-E8CC-4FFB-37F082E12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tx1">
                    <a:lumMod val="75000"/>
                    <a:lumOff val="25000"/>
                  </a:schemeClr>
                </a:solidFill>
              </a:rPr>
              <a:t>Props</a:t>
            </a:r>
          </a:p>
        </p:txBody>
      </p:sp>
      <p:pic>
        <p:nvPicPr>
          <p:cNvPr id="10" name="Kuvan paikkamerkki 9">
            <a:extLst>
              <a:ext uri="{FF2B5EF4-FFF2-40B4-BE49-F238E27FC236}">
                <a16:creationId xmlns:a16="http://schemas.microsoft.com/office/drawing/2014/main" id="{468711A2-5195-0799-8170-156AFB3F81E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r="3" b="14068"/>
          <a:stretch>
            <a:fillRect/>
          </a:stretch>
        </p:blipFill>
        <p:spPr>
          <a:xfrm>
            <a:off x="633999" y="640081"/>
            <a:ext cx="6909801" cy="5314406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in paikkamerkki 7">
            <a:extLst>
              <a:ext uri="{FF2B5EF4-FFF2-40B4-BE49-F238E27FC236}">
                <a16:creationId xmlns:a16="http://schemas.microsoft.com/office/drawing/2014/main" id="{2F506C82-459B-A745-EBC8-CCD9C9C9B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59485" y="2198914"/>
            <a:ext cx="3690257" cy="3670180"/>
          </a:xfrm>
        </p:spPr>
        <p:txBody>
          <a:bodyPr vert="horz" lIns="0" tIns="45720" rIns="0" bIns="45720" rtlCol="0">
            <a:normAutofit/>
          </a:bodyPr>
          <a:lstStyle/>
          <a:p>
            <a:pPr indent="-228600">
              <a:buFont typeface="Calibri" panose="020F0502020204030204" pitchFamily="34" charset="0"/>
              <a:buChar char="•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Propsit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tulee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sanasta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properties)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ovat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komponenttien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saamia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parametreja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-228600">
              <a:buFont typeface="Calibri" panose="020F0502020204030204" pitchFamily="34" charset="0"/>
              <a:buChar char="•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Propseja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voi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olla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kuinka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monta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tahansa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-228600">
              <a:buFont typeface="Calibri" panose="020F0502020204030204" pitchFamily="34" charset="0"/>
              <a:buChar char="•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Esimerkissä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komponentti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Hello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propseina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parametrit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name ja age</a:t>
            </a:r>
          </a:p>
          <a:p>
            <a:pPr indent="-228600">
              <a:buFont typeface="Calibri" panose="020F0502020204030204" pitchFamily="34" charset="0"/>
              <a:buChar char="•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Propsien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arvot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määritellään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komponenttia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kutsuttaessa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eli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esimerkissä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määritellään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komponentissa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App</a:t>
            </a:r>
          </a:p>
          <a:p>
            <a:pPr lvl="1" indent="-228600">
              <a:buFont typeface="Calibri" panose="020F0502020204030204" pitchFamily="34" charset="0"/>
              <a:buChar char="•"/>
            </a:pPr>
            <a:r>
              <a:rPr lang="en-US" dirty="0" err="1"/>
              <a:t>Propsin</a:t>
            </a:r>
            <a:r>
              <a:rPr lang="en-US" dirty="0"/>
              <a:t> </a:t>
            </a:r>
            <a:r>
              <a:rPr lang="en-US" dirty="0" err="1"/>
              <a:t>arvon</a:t>
            </a:r>
            <a:r>
              <a:rPr lang="en-US" dirty="0"/>
              <a:t> </a:t>
            </a:r>
            <a:r>
              <a:rPr lang="en-US" dirty="0" err="1"/>
              <a:t>tietotyyppi</a:t>
            </a:r>
            <a:r>
              <a:rPr lang="en-US" dirty="0"/>
              <a:t> </a:t>
            </a:r>
            <a:r>
              <a:rPr lang="en-US" dirty="0" err="1"/>
              <a:t>voi</a:t>
            </a:r>
            <a:r>
              <a:rPr lang="en-US" dirty="0"/>
              <a:t> olla </a:t>
            </a:r>
            <a:r>
              <a:rPr lang="en-US" dirty="0" err="1"/>
              <a:t>mikä</a:t>
            </a:r>
            <a:r>
              <a:rPr lang="en-US" dirty="0"/>
              <a:t> </a:t>
            </a:r>
            <a:r>
              <a:rPr lang="en-US" dirty="0" err="1"/>
              <a:t>tahansa</a:t>
            </a:r>
            <a:endParaRPr lang="en-US" dirty="0"/>
          </a:p>
          <a:p>
            <a:pPr lvl="1" indent="-228600">
              <a:buFont typeface="Calibri" panose="020F0502020204030204" pitchFamily="34" charset="0"/>
              <a:buChar char="•"/>
            </a:pPr>
            <a:r>
              <a:rPr lang="en-US" dirty="0"/>
              <a:t>Jos </a:t>
            </a:r>
            <a:r>
              <a:rPr lang="en-US" dirty="0" err="1"/>
              <a:t>Propsin</a:t>
            </a:r>
            <a:r>
              <a:rPr lang="en-US" dirty="0"/>
              <a:t> </a:t>
            </a:r>
            <a:r>
              <a:rPr lang="en-US" dirty="0" err="1"/>
              <a:t>arvo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ole </a:t>
            </a:r>
            <a:r>
              <a:rPr lang="en-US" dirty="0" err="1"/>
              <a:t>merkkijono</a:t>
            </a:r>
            <a:r>
              <a:rPr lang="en-US" dirty="0"/>
              <a:t> (string) se </a:t>
            </a:r>
            <a:r>
              <a:rPr lang="en-US" dirty="0" err="1"/>
              <a:t>määritellään</a:t>
            </a:r>
            <a:r>
              <a:rPr lang="en-US" dirty="0"/>
              <a:t> </a:t>
            </a:r>
            <a:r>
              <a:rPr lang="en-US" dirty="0" err="1"/>
              <a:t>aaltosulkeiden</a:t>
            </a:r>
            <a:r>
              <a:rPr lang="en-US" dirty="0"/>
              <a:t> {} </a:t>
            </a:r>
            <a:r>
              <a:rPr lang="en-US" dirty="0" err="1"/>
              <a:t>sisällä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417315-0A35-4882-ABD2-ABE3C89E5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i-FI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BEB38930-BD4D-DB06-7AC7-1CE573ABA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r>
              <a:rPr lang="en-US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Linn Tähti, OMNIA  2026</a:t>
            </a:r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B82B4B65-5318-A443-4D8E-F1D1665A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148CC95F-0247-41B6-91CF-DC97C76A7088}" type="slidenum">
              <a:rPr lang="en-US" smtClean="0"/>
              <a:pPr defTabSz="914400">
                <a:spcAft>
                  <a:spcPts val="600"/>
                </a:spcAft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44AE838-8FC5-FD78-A831-438F090BE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React sovelluksen luonti vite:llä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24924B7-09FB-0E24-4344-70086490D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fi-FI"/>
              <a:t>Avaa terminaali</a:t>
            </a:r>
          </a:p>
          <a:p>
            <a:pPr marL="514350" indent="-514350">
              <a:buAutoNum type="arabicPeriod"/>
            </a:pPr>
            <a:r>
              <a:rPr lang="fi-FI"/>
              <a:t>Luo projekti: npm create vite@lates </a:t>
            </a:r>
            <a:r>
              <a:rPr lang="fi-FI" i="1"/>
              <a:t>projektinNimi --</a:t>
            </a:r>
            <a:r>
              <a:rPr lang="fi-FI"/>
              <a:t>template react</a:t>
            </a:r>
          </a:p>
          <a:p>
            <a:pPr marL="971550" lvl="1" indent="-514350">
              <a:buAutoNum type="arabicPeriod"/>
            </a:pPr>
            <a:r>
              <a:rPr lang="fi-FI"/>
              <a:t>Valitse frameworkiksi ”react” ja ohjelmointi kieleksi javaScript</a:t>
            </a:r>
          </a:p>
          <a:p>
            <a:pPr marL="971550" lvl="1" indent="-514350">
              <a:buAutoNum type="arabicPeriod"/>
            </a:pPr>
            <a:r>
              <a:rPr lang="fi-FI"/>
              <a:t>Huom. Projekti luodaan siihen hakemistoon (kansioon), jossa olet tällä hetkellä terminaalissa. Sinun täytyy siis ensin navigoida oikeaan kansioon esimerkiksi käyttämällä cd komentoa: esim. cd osa1</a:t>
            </a:r>
          </a:p>
          <a:p>
            <a:pPr marL="971550" lvl="1" indent="-514350">
              <a:buAutoNum type="arabicPeriod"/>
            </a:pPr>
            <a:r>
              <a:rPr lang="fi-FI"/>
              <a:t>Huom2. korvaa komennossa </a:t>
            </a:r>
            <a:r>
              <a:rPr lang="fi-FI" i="1"/>
              <a:t>projektinNimi</a:t>
            </a:r>
            <a:r>
              <a:rPr lang="fi-FI"/>
              <a:t> sillä, miksi haluat nimetä projektisi, esim. kurssitiedot</a:t>
            </a:r>
          </a:p>
          <a:p>
            <a:pPr marL="514350" indent="-514350">
              <a:buAutoNum type="arabicPeriod"/>
            </a:pPr>
            <a:r>
              <a:rPr lang="fi-FI"/>
              <a:t>Navigoi luomaasi projektiin: cd </a:t>
            </a:r>
            <a:r>
              <a:rPr lang="fi-FI" i="1"/>
              <a:t>projektinNimi</a:t>
            </a:r>
            <a:endParaRPr lang="fi-FI"/>
          </a:p>
          <a:p>
            <a:pPr marL="514350" indent="-514350">
              <a:buAutoNum type="arabicPeriod"/>
            </a:pPr>
            <a:r>
              <a:rPr lang="fi-FI"/>
              <a:t>Asenna tarvittavat paketit: npm install</a:t>
            </a:r>
          </a:p>
          <a:p>
            <a:pPr marL="514350" indent="-514350">
              <a:buAutoNum type="arabicPeriod"/>
            </a:pPr>
            <a:r>
              <a:rPr lang="fi-FI"/>
              <a:t>Käynnistä ohjelma: npm run dev</a:t>
            </a:r>
          </a:p>
          <a:p>
            <a:pPr marL="514350" indent="-514350">
              <a:buAutoNum type="arabicPeriod"/>
            </a:pPr>
            <a:r>
              <a:rPr lang="fi-FI"/>
              <a:t>Sovelluksesi pitäisi nyt olla näkyvissä osoitteessa http://localhost:5173</a:t>
            </a:r>
            <a:endParaRPr lang="fi-FI" dirty="0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4A726B90-1ED9-4BB1-60C8-CFA75BBF4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7FE471C3-0D38-9271-B725-B2FF0315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86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62A1591-6305-1F21-957E-073F06431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Javascript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DA31EE4-D1F6-8787-0B8D-665F7F138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Muuttujien määrittely:</a:t>
            </a:r>
          </a:p>
          <a:p>
            <a:endParaRPr lang="fi-FI" dirty="0"/>
          </a:p>
          <a:p>
            <a:endParaRPr lang="fi-FI" dirty="0"/>
          </a:p>
          <a:p>
            <a:pPr marL="0" indent="0">
              <a:buNone/>
            </a:pPr>
            <a:endParaRPr lang="fi-FI" dirty="0"/>
          </a:p>
          <a:p>
            <a:pPr lvl="1"/>
            <a:r>
              <a:rPr lang="fi-FI" dirty="0" err="1"/>
              <a:t>Const</a:t>
            </a:r>
            <a:r>
              <a:rPr lang="fi-FI" dirty="0"/>
              <a:t> määrittelee </a:t>
            </a:r>
            <a:r>
              <a:rPr lang="fi-FI" i="1" dirty="0"/>
              <a:t>vakion</a:t>
            </a:r>
            <a:r>
              <a:rPr lang="fi-FI" dirty="0"/>
              <a:t>, jota ei voi muuttaa myöhemmin, </a:t>
            </a:r>
            <a:r>
              <a:rPr lang="fi-FI" dirty="0" err="1"/>
              <a:t>let</a:t>
            </a:r>
            <a:r>
              <a:rPr lang="fi-FI" dirty="0"/>
              <a:t> määrittelee muuttujan</a:t>
            </a:r>
          </a:p>
          <a:p>
            <a:r>
              <a:rPr lang="fi-FI" dirty="0"/>
              <a:t>Taulukko:</a:t>
            </a:r>
          </a:p>
          <a:p>
            <a:endParaRPr lang="fi-FI" dirty="0"/>
          </a:p>
          <a:p>
            <a:endParaRPr lang="fi-FI" dirty="0"/>
          </a:p>
          <a:p>
            <a:pPr lvl="1"/>
            <a:r>
              <a:rPr lang="fi-FI" dirty="0"/>
              <a:t>Vaikka taulukko on tallennettu vakioksi, sen sisältöä </a:t>
            </a:r>
            <a:r>
              <a:rPr lang="fi-FI" i="1" dirty="0"/>
              <a:t>voi</a:t>
            </a:r>
            <a:r>
              <a:rPr lang="fi-FI" dirty="0"/>
              <a:t> muuttaa</a:t>
            </a:r>
          </a:p>
          <a:p>
            <a:endParaRPr lang="fi-FI" dirty="0"/>
          </a:p>
          <a:p>
            <a:endParaRPr lang="fi-FI" dirty="0"/>
          </a:p>
          <a:p>
            <a:pPr lvl="1"/>
            <a:endParaRPr lang="fi-FI" dirty="0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1F481F89-F4F7-7A86-E227-A753FB5DC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FCED25C0-B282-6672-CA7E-853B83157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CEC0653D-F230-B75C-3046-ED192FCEC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994" y="2428289"/>
            <a:ext cx="2482378" cy="885967"/>
          </a:xfrm>
          <a:prstGeom prst="rect">
            <a:avLst/>
          </a:prstGeom>
        </p:spPr>
      </p:pic>
      <p:pic>
        <p:nvPicPr>
          <p:cNvPr id="9" name="Kuva 8">
            <a:extLst>
              <a:ext uri="{FF2B5EF4-FFF2-40B4-BE49-F238E27FC236}">
                <a16:creationId xmlns:a16="http://schemas.microsoft.com/office/drawing/2014/main" id="{6CB7F36F-6493-1AED-9537-0EEDD732C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994" y="4532873"/>
            <a:ext cx="2401212" cy="53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54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B140D3D-B738-6941-B652-4F5E80BD5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Javascript</a:t>
            </a:r>
            <a:r>
              <a:rPr lang="fi-FI" dirty="0"/>
              <a:t>: oliot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9C4AF2F-CD03-4E26-3599-722E707FB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lvl="0" indent="-342900">
              <a:lnSpc>
                <a:spcPct val="116000"/>
              </a:lnSpc>
              <a:buFont typeface="Symbol" panose="05050102010706020507" pitchFamily="18" charset="2"/>
              <a:buChar char=""/>
            </a:pPr>
            <a:r>
              <a:rPr lang="fi-FI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Olio (eng. Object) määritellään käyttäen hakasulkeita. Alla määritellään olio, joka tallennetaan muuttujaan part1:</a:t>
            </a:r>
          </a:p>
          <a:p>
            <a:pPr marL="742950" lvl="1" indent="-285750">
              <a:lnSpc>
                <a:spcPct val="116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D1949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part1 </a:t>
            </a:r>
            <a:r>
              <a:rPr lang="en-US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12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D1949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BDE052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'Fundamentals of React'</a:t>
            </a: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2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D1949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exercises</a:t>
            </a:r>
            <a:r>
              <a:rPr lang="en-US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D1949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10</a:t>
            </a:r>
            <a:br>
              <a:rPr lang="en-US" sz="12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}</a:t>
            </a:r>
            <a:endParaRPr lang="fi-FI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6000"/>
              </a:lnSpc>
              <a:buFont typeface="Symbol" panose="05050102010706020507" pitchFamily="18" charset="2"/>
              <a:buChar char=""/>
            </a:pPr>
            <a:r>
              <a:rPr lang="fi-FI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Olion kenttään (eng. Property) viitataan yleensä pistenotaatiolla. Esim. Jos halutaan viitata yllä määritellyn olion kenttään </a:t>
            </a:r>
            <a:r>
              <a:rPr lang="fi-FI" sz="12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exercises</a:t>
            </a:r>
            <a:r>
              <a:rPr lang="fi-FI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6000"/>
              </a:lnSpc>
              <a:buFont typeface="Courier New" panose="02070309020205020404" pitchFamily="49" charset="0"/>
              <a:buChar char="o"/>
            </a:pPr>
            <a:r>
              <a:rPr lang="fi-FI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part1.exercises</a:t>
            </a:r>
            <a:endParaRPr lang="fi-FI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6000"/>
              </a:lnSpc>
              <a:buFont typeface="Symbol" panose="05050102010706020507" pitchFamily="18" charset="2"/>
              <a:buChar char=""/>
            </a:pPr>
            <a:r>
              <a:rPr lang="fi-FI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Olioita voi käyttää muiden tietotyyppien tavoin esimerkiksi muuttujissa, antaa funktiolle tai komponentille argumenttina, tai tallentaa taulukkoon (eng. </a:t>
            </a:r>
            <a:r>
              <a:rPr lang="fi-FI" sz="12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Array</a:t>
            </a:r>
            <a:r>
              <a:rPr lang="fi-FI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16000"/>
              </a:lnSpc>
              <a:buFont typeface="Symbol" panose="05050102010706020507" pitchFamily="18" charset="2"/>
              <a:buChar char=""/>
            </a:pPr>
            <a:r>
              <a:rPr lang="fi-FI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Olioita ei voi </a:t>
            </a:r>
            <a:r>
              <a:rPr lang="fi-FI" sz="12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renderöitä</a:t>
            </a:r>
            <a:r>
              <a:rPr lang="fi-FI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! Älä siis tee näin:</a:t>
            </a:r>
          </a:p>
          <a:p>
            <a:pPr marL="742950" lvl="1" indent="-285750">
              <a:lnSpc>
                <a:spcPct val="116000"/>
              </a:lnSpc>
              <a:buFont typeface="Courier New" panose="02070309020205020404" pitchFamily="49" charset="0"/>
              <a:buChar char="o"/>
            </a:pPr>
            <a:r>
              <a:rPr lang="fi-FI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i-FI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fi-FI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fi-FI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{part1} </a:t>
            </a:r>
            <a:r>
              <a:rPr lang="fi-FI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fi-FI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fi-FI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fi-FI" sz="1200" dirty="0">
              <a:effectLst/>
              <a:highlight>
                <a:srgbClr val="00000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6000"/>
              </a:lnSpc>
              <a:buFont typeface="Symbol" panose="05050102010706020507" pitchFamily="18" charset="2"/>
              <a:buChar char=""/>
            </a:pPr>
            <a:r>
              <a:rPr lang="fi-FI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Olioita voi antaa propsina tai </a:t>
            </a:r>
            <a:r>
              <a:rPr lang="fi-FI" sz="12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niiten</a:t>
            </a:r>
            <a:r>
              <a:rPr lang="fi-FI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kenttiä voi renderöidä (olettaen, että kentässä on arvo, joka voidaan </a:t>
            </a:r>
            <a:r>
              <a:rPr lang="fi-FI" sz="12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renderöitä</a:t>
            </a:r>
            <a:r>
              <a:rPr lang="fi-FI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esim. Merkkijono:</a:t>
            </a:r>
          </a:p>
          <a:p>
            <a:pPr marL="742950" lvl="1" indent="-285750">
              <a:lnSpc>
                <a:spcPct val="116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div</a:t>
            </a:r>
            <a:r>
              <a:rPr lang="en-US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{part1.name} </a:t>
            </a:r>
            <a:r>
              <a:rPr lang="en-US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Part part</a:t>
            </a:r>
            <a:r>
              <a:rPr lang="en-US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{part1} </a:t>
            </a:r>
            <a:r>
              <a:rPr lang="en-US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/&gt;</a:t>
            </a:r>
            <a:b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20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div</a:t>
            </a:r>
            <a:r>
              <a:rPr lang="en-US" sz="1200" dirty="0">
                <a:solidFill>
                  <a:srgbClr val="F5B83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fi-FI" sz="1200" dirty="0">
              <a:effectLst/>
              <a:highlight>
                <a:srgbClr val="00000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i-FI" dirty="0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D01F3C85-FD8C-E4C5-FE5E-BDDD972C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125B3A5A-CF37-36FF-869C-A0378E562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9" name="Kuva 8">
            <a:extLst>
              <a:ext uri="{FF2B5EF4-FFF2-40B4-BE49-F238E27FC236}">
                <a16:creationId xmlns:a16="http://schemas.microsoft.com/office/drawing/2014/main" id="{10792961-A90F-AA14-C52A-F65639773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367" y="2123603"/>
            <a:ext cx="3289450" cy="879495"/>
          </a:xfrm>
          <a:prstGeom prst="rect">
            <a:avLst/>
          </a:prstGeom>
        </p:spPr>
      </p:pic>
      <p:pic>
        <p:nvPicPr>
          <p:cNvPr id="11" name="Kuva 10">
            <a:extLst>
              <a:ext uri="{FF2B5EF4-FFF2-40B4-BE49-F238E27FC236}">
                <a16:creationId xmlns:a16="http://schemas.microsoft.com/office/drawing/2014/main" id="{E94DE5CB-E2D4-67C4-023D-120A1067E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367" y="3255307"/>
            <a:ext cx="2412600" cy="268067"/>
          </a:xfrm>
          <a:prstGeom prst="rect">
            <a:avLst/>
          </a:prstGeom>
        </p:spPr>
      </p:pic>
      <p:pic>
        <p:nvPicPr>
          <p:cNvPr id="13" name="Kuva 12">
            <a:extLst>
              <a:ext uri="{FF2B5EF4-FFF2-40B4-BE49-F238E27FC236}">
                <a16:creationId xmlns:a16="http://schemas.microsoft.com/office/drawing/2014/main" id="{BCBD0DE7-8F8E-4C75-3318-E27403A0E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3367" y="4214101"/>
            <a:ext cx="2706613" cy="268067"/>
          </a:xfrm>
          <a:prstGeom prst="rect">
            <a:avLst/>
          </a:prstGeom>
        </p:spPr>
      </p:pic>
      <p:pic>
        <p:nvPicPr>
          <p:cNvPr id="15" name="Kuva 14">
            <a:extLst>
              <a:ext uri="{FF2B5EF4-FFF2-40B4-BE49-F238E27FC236}">
                <a16:creationId xmlns:a16="http://schemas.microsoft.com/office/drawing/2014/main" id="{238B57BA-1D7A-B5CB-94E9-D1100AC38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367" y="4813676"/>
            <a:ext cx="3081697" cy="87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71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EFCD995-7B95-B633-1B71-835F584C4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Destrukturointi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5CC144E-FDD1-BBC5-33D2-A5EE67608E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 err="1"/>
              <a:t>Destrukturointi</a:t>
            </a:r>
            <a:r>
              <a:rPr lang="fi-FI" dirty="0"/>
              <a:t> tarkoittaa, että olio ”rikotaan” sijoittamalla sen kenttien arvot omiin muuttujiinsa</a:t>
            </a:r>
          </a:p>
          <a:p>
            <a:r>
              <a:rPr lang="fi-FI" dirty="0"/>
              <a:t>Aiemmissa tehtävissä saatoit käsitellä propsit tietämättäsi oliona, jolloin sen kenttiin joudutaan aina viittaamaan esim. </a:t>
            </a:r>
            <a:r>
              <a:rPr lang="fi-FI" dirty="0" err="1"/>
              <a:t>props.course</a:t>
            </a:r>
            <a:r>
              <a:rPr lang="fi-FI" dirty="0"/>
              <a:t> tai </a:t>
            </a:r>
            <a:r>
              <a:rPr lang="fi-FI" dirty="0" err="1"/>
              <a:t>props.part</a:t>
            </a:r>
            <a:endParaRPr lang="fi-FI" dirty="0"/>
          </a:p>
          <a:p>
            <a:r>
              <a:rPr lang="fi-FI" dirty="0"/>
              <a:t>Esimerkin molemmat komponentit renderöivät täsmälleen saman komponentin mutta alemmassa propsit on </a:t>
            </a:r>
            <a:r>
              <a:rPr lang="fi-FI" dirty="0" err="1"/>
              <a:t>destrukturoitu</a:t>
            </a:r>
            <a:r>
              <a:rPr lang="fi-FI" dirty="0"/>
              <a:t> heti </a:t>
            </a:r>
            <a:r>
              <a:rPr lang="fi-FI"/>
              <a:t>komponentin määrittelyssä</a:t>
            </a:r>
            <a:endParaRPr lang="fi-FI" dirty="0"/>
          </a:p>
          <a:p>
            <a:r>
              <a:rPr lang="fi-FI" dirty="0"/>
              <a:t>Propsit kannattaa aina </a:t>
            </a:r>
            <a:r>
              <a:rPr lang="fi-FI" dirty="0" err="1"/>
              <a:t>destrukturoida</a:t>
            </a:r>
            <a:r>
              <a:rPr lang="fi-FI" dirty="0"/>
              <a:t>, koska:</a:t>
            </a:r>
          </a:p>
          <a:p>
            <a:pPr lvl="1"/>
            <a:r>
              <a:rPr lang="fi-FI" dirty="0"/>
              <a:t>Se parantaa koodin luettavuutta</a:t>
            </a:r>
          </a:p>
          <a:p>
            <a:pPr lvl="1"/>
            <a:r>
              <a:rPr lang="fi-FI" dirty="0"/>
              <a:t>Helpottaa koodin kirjoittamista</a:t>
            </a:r>
          </a:p>
        </p:txBody>
      </p:sp>
      <p:sp>
        <p:nvSpPr>
          <p:cNvPr id="8" name="Sisällön paikkamerkki 7">
            <a:extLst>
              <a:ext uri="{FF2B5EF4-FFF2-40B4-BE49-F238E27FC236}">
                <a16:creationId xmlns:a16="http://schemas.microsoft.com/office/drawing/2014/main" id="{EDDF07B4-B295-2EF9-8533-7EB2DC6EB9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3EC34FDB-7F14-DECA-2EF9-E6923C50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47B29CBD-64E2-8D19-72E1-55EFC266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Kuva 6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DC98AA5C-C822-CB6B-8DA9-D526628A8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85857"/>
            <a:ext cx="5640951" cy="288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941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A4DECB5-72E1-B64B-5CB0-A67D099E2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Siisti ohjelmointityyli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18013DF-48FF-700A-D536-7A31D7F57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/>
              <a:t>Ohjelmoidessa tulee aina pyrkiä mahdollisimman siistiin ja luettavaan koodiin</a:t>
            </a:r>
          </a:p>
          <a:p>
            <a:r>
              <a:rPr lang="fi-FI" dirty="0"/>
              <a:t>Esimerkkejä luettavuutta parantavista keinoista:</a:t>
            </a:r>
          </a:p>
          <a:p>
            <a:pPr lvl="1"/>
            <a:r>
              <a:rPr lang="fi-FI" dirty="0" err="1"/>
              <a:t>Destrukturoi</a:t>
            </a:r>
            <a:r>
              <a:rPr lang="fi-FI" dirty="0"/>
              <a:t> propsit heti komponentin alussa tai komponentin määrittelyssä</a:t>
            </a:r>
          </a:p>
          <a:p>
            <a:pPr lvl="1"/>
            <a:r>
              <a:rPr lang="fi-FI" dirty="0"/>
              <a:t>Käytä lyhyissä funktioissa nuolifunktion kompaktimpaa muotoa:</a:t>
            </a:r>
          </a:p>
          <a:p>
            <a:pPr lvl="1"/>
            <a:endParaRPr lang="fi-FI" dirty="0"/>
          </a:p>
          <a:p>
            <a:pPr lvl="1"/>
            <a:r>
              <a:rPr lang="fi-FI" dirty="0"/>
              <a:t>Käytä muuttujia tarpeen mukaan ja nimeä muuttujat kuvaavasti</a:t>
            </a:r>
          </a:p>
          <a:p>
            <a:pPr lvl="1"/>
            <a:r>
              <a:rPr lang="fi-FI" dirty="0"/>
              <a:t>Jaa suuret komponentit pienemmiksi osiksi</a:t>
            </a:r>
          </a:p>
          <a:p>
            <a:pPr lvl="1"/>
            <a:r>
              <a:rPr lang="fi-FI" dirty="0"/>
              <a:t>Vältä turhaa toistoa, eli mahdollisuuksien </a:t>
            </a:r>
            <a:r>
              <a:rPr lang="fi-FI" dirty="0" err="1"/>
              <a:t>uudelleenkäytä</a:t>
            </a:r>
            <a:r>
              <a:rPr lang="fi-FI" dirty="0"/>
              <a:t> komponentteja ja funktioita, kun mahdollista, sen sijaan, että kirjoittaisit saman koodin pätkän moneen kertaan</a:t>
            </a:r>
          </a:p>
          <a:p>
            <a:r>
              <a:rPr lang="fi-FI" dirty="0" err="1"/>
              <a:t>Huom</a:t>
            </a:r>
            <a:r>
              <a:rPr lang="fi-FI" dirty="0"/>
              <a:t>! Vähemmän rivejä ei aina tarkoita parempaa tai siistimpää koodia</a:t>
            </a:r>
          </a:p>
          <a:p>
            <a:pPr lvl="1"/>
            <a:endParaRPr lang="fi-FI" dirty="0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0DEEB1E8-E33E-6F24-6A24-44DE3B830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19C2A379-8E46-046F-34BB-2D3D9DC73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BA1A6037-3AEA-A104-88A3-39B21C30E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137" y="3270928"/>
            <a:ext cx="7077550" cy="31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92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FB7A205-5F28-CA30-F08C-F4EC9CA05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518336"/>
            <a:ext cx="3807187" cy="2228074"/>
          </a:xfrm>
        </p:spPr>
        <p:txBody>
          <a:bodyPr>
            <a:normAutofit/>
          </a:bodyPr>
          <a:lstStyle/>
          <a:p>
            <a:r>
              <a:rPr lang="fi-FI" sz="4000" dirty="0"/>
              <a:t>Tilallinen komponentti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BA846AB-41FE-BE12-E7BC-A5BAADFEE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963" y="1857379"/>
            <a:ext cx="3990197" cy="4421501"/>
          </a:xfrm>
        </p:spPr>
        <p:txBody>
          <a:bodyPr>
            <a:normAutofit fontScale="92500" lnSpcReduction="20000"/>
          </a:bodyPr>
          <a:lstStyle/>
          <a:p>
            <a:r>
              <a:rPr lang="fi-FI" sz="2000" dirty="0"/>
              <a:t>Kun halutaan, että sivu on dynaaminen, eli </a:t>
            </a:r>
            <a:r>
              <a:rPr lang="fi-FI" sz="2000" dirty="0" err="1"/>
              <a:t>renderöityy</a:t>
            </a:r>
            <a:r>
              <a:rPr lang="fi-FI" sz="2000" dirty="0"/>
              <a:t> uudelleen, kun jokin muuttuu, voidaan käyttää </a:t>
            </a:r>
            <a:r>
              <a:rPr lang="fi-FI" sz="2000" i="1" dirty="0" err="1"/>
              <a:t>state</a:t>
            </a:r>
            <a:r>
              <a:rPr lang="fi-FI" sz="2000" i="1" dirty="0"/>
              <a:t> </a:t>
            </a:r>
            <a:r>
              <a:rPr lang="fi-FI" sz="2000" i="1" dirty="0" err="1"/>
              <a:t>hook:a</a:t>
            </a:r>
            <a:endParaRPr lang="fi-FI" sz="2000" i="1" dirty="0"/>
          </a:p>
          <a:p>
            <a:r>
              <a:rPr lang="fi-FI" sz="2000" dirty="0"/>
              <a:t>Esimerkin koodi tuottaa sivun, joka </a:t>
            </a:r>
            <a:r>
              <a:rPr lang="fi-FI" sz="2000" dirty="0" err="1"/>
              <a:t>renderöityy</a:t>
            </a:r>
            <a:r>
              <a:rPr lang="fi-FI" sz="2000" dirty="0"/>
              <a:t> 10 sekunnin välein, tilan ”</a:t>
            </a:r>
            <a:r>
              <a:rPr lang="fi-FI" sz="2000" dirty="0" err="1"/>
              <a:t>counter</a:t>
            </a:r>
            <a:r>
              <a:rPr lang="fi-FI" sz="2000" dirty="0"/>
              <a:t>” päivittyessä</a:t>
            </a:r>
          </a:p>
          <a:p>
            <a:r>
              <a:rPr lang="fi-FI" sz="2000" dirty="0"/>
              <a:t>Tila määritellään käyttäen </a:t>
            </a:r>
            <a:r>
              <a:rPr lang="fi-FI" sz="2000" dirty="0" err="1"/>
              <a:t>useSate</a:t>
            </a:r>
            <a:r>
              <a:rPr lang="fi-FI" sz="2000" dirty="0"/>
              <a:t> funktiolla</a:t>
            </a:r>
          </a:p>
          <a:p>
            <a:r>
              <a:rPr lang="fi-FI" sz="2000" dirty="0" err="1"/>
              <a:t>Esimerkissö</a:t>
            </a:r>
            <a:r>
              <a:rPr lang="fi-FI" sz="2000" dirty="0"/>
              <a:t> tilan </a:t>
            </a:r>
            <a:r>
              <a:rPr lang="fi-FI" sz="2000" dirty="0" err="1"/>
              <a:t>counter</a:t>
            </a:r>
            <a:r>
              <a:rPr lang="fi-FI" sz="2000" dirty="0"/>
              <a:t> alkuarvoksi määritetään 0</a:t>
            </a:r>
          </a:p>
          <a:p>
            <a:r>
              <a:rPr lang="fi-FI" sz="2000" dirty="0"/>
              <a:t>Esimerkissä tilan </a:t>
            </a:r>
            <a:r>
              <a:rPr lang="fi-FI" sz="2000" dirty="0" err="1"/>
              <a:t>counter</a:t>
            </a:r>
            <a:r>
              <a:rPr lang="fi-FI" sz="2000" dirty="0"/>
              <a:t> arvo päivitetään </a:t>
            </a:r>
            <a:r>
              <a:rPr lang="fi-FI" sz="2000" dirty="0" err="1"/>
              <a:t>setCounter</a:t>
            </a:r>
            <a:r>
              <a:rPr lang="fi-FI" sz="2000" dirty="0"/>
              <a:t> –funktiolla</a:t>
            </a:r>
          </a:p>
          <a:p>
            <a:r>
              <a:rPr lang="fi-FI" sz="2000" dirty="0"/>
              <a:t>Tilan muuttaminen aiheuttaa komponentin uudelleen </a:t>
            </a:r>
            <a:r>
              <a:rPr lang="fi-FI" sz="2000" dirty="0" err="1"/>
              <a:t>renderöitymisen</a:t>
            </a:r>
            <a:endParaRPr lang="fi-FI" sz="2000" dirty="0"/>
          </a:p>
          <a:p>
            <a:endParaRPr lang="fi-FI" sz="2000" dirty="0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A3DDFD28-DAE0-455C-42DA-F8D3E12D9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24" y="6356350"/>
            <a:ext cx="4824452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Linn Tähti, OMNIA  2026</a:t>
            </a:r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C225A5CA-DB77-91E1-AEBE-EF500A3B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0102" y="6356350"/>
            <a:ext cx="115369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C2293D61-29CD-F4B3-6846-59326B51A5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7"/>
          <a:stretch>
            <a:fillRect/>
          </a:stretch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83928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05DBD1F-B6CE-04F5-E941-A70F168D9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819" y="-508176"/>
            <a:ext cx="3807187" cy="2228074"/>
          </a:xfrm>
        </p:spPr>
        <p:txBody>
          <a:bodyPr>
            <a:normAutofit/>
          </a:bodyPr>
          <a:lstStyle/>
          <a:p>
            <a:r>
              <a:rPr lang="fi-FI" sz="4000" dirty="0"/>
              <a:t>Tapahtuman käsittely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1D8C529-4D37-1FA7-116F-2431D44B2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61" y="1857379"/>
            <a:ext cx="4020299" cy="4498971"/>
          </a:xfrm>
        </p:spPr>
        <p:txBody>
          <a:bodyPr>
            <a:normAutofit/>
          </a:bodyPr>
          <a:lstStyle/>
          <a:p>
            <a:r>
              <a:rPr lang="fi-FI" sz="2000" dirty="0"/>
              <a:t>Tapahtumankäsittelijä on funktio, jota kutsutaan aina tietyn tapahtuman (</a:t>
            </a:r>
            <a:r>
              <a:rPr lang="fi-FI" sz="2000" dirty="0" err="1"/>
              <a:t>event</a:t>
            </a:r>
            <a:r>
              <a:rPr lang="fi-FI" sz="2000" dirty="0"/>
              <a:t>) yhteydessä</a:t>
            </a:r>
          </a:p>
          <a:p>
            <a:r>
              <a:rPr lang="fi-FI" sz="2000" dirty="0"/>
              <a:t>Tapahtumankäsittelijöitä tarvitaan esimerkiksi nappien kanssa</a:t>
            </a:r>
          </a:p>
          <a:p>
            <a:r>
              <a:rPr lang="fi-FI" sz="2000" dirty="0"/>
              <a:t>Esimerkki koodissa napin painaminen kutsuu tapahtumankäsittelijää </a:t>
            </a:r>
            <a:r>
              <a:rPr lang="fi-FI" sz="2000" dirty="0" err="1"/>
              <a:t>handleClick</a:t>
            </a:r>
            <a:r>
              <a:rPr lang="fi-FI" sz="2000" dirty="0"/>
              <a:t>, joka tulostaa konsoliin tekstin ”</a:t>
            </a:r>
            <a:r>
              <a:rPr lang="fi-FI" sz="2000" dirty="0" err="1"/>
              <a:t>clicked</a:t>
            </a:r>
            <a:r>
              <a:rPr lang="fi-FI" sz="2000" dirty="0"/>
              <a:t>”</a:t>
            </a:r>
          </a:p>
          <a:p>
            <a:endParaRPr lang="fi-FI" sz="2000" dirty="0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41DA4C44-3D6B-220C-F509-516EA5C9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24" y="6356350"/>
            <a:ext cx="4824452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Linn Tähti, OMNIA  2026</a:t>
            </a:r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2C8F7DF3-9BFB-CBA8-76A0-2FFDA0DBF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0102" y="6356350"/>
            <a:ext cx="115369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9" name="Kuva 8">
            <a:extLst>
              <a:ext uri="{FF2B5EF4-FFF2-40B4-BE49-F238E27FC236}">
                <a16:creationId xmlns:a16="http://schemas.microsoft.com/office/drawing/2014/main" id="{86FDC17A-BEC6-58FE-9C73-DAD005B198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58"/>
          <a:stretch>
            <a:fillRect/>
          </a:stretch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244796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B56ABA3-42B6-125E-0F3F-F183BC499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fi-FI" sz="4000"/>
              <a:t>Tapahtuman käsittely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7C854B9-2614-43B4-8D1D-D2F0901C4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>
            <a:normAutofit/>
          </a:bodyPr>
          <a:lstStyle/>
          <a:p>
            <a:r>
              <a:rPr lang="fi-FI" sz="2000"/>
              <a:t>Tapahtumankäsittelijä voidaan määritellä myös suoraan onClick määrittelyssä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5975A419-F3A8-48C9-47FD-1A9677EBB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Linn Tähti, OMNIA  2026</a:t>
            </a:r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64482D78-AB48-339A-9342-866A0FC3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B6440B17-3CA7-0A8A-B5ED-6B9096541B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52" r="2643" b="1"/>
          <a:stretch>
            <a:fillRect/>
          </a:stretch>
        </p:blipFill>
        <p:spPr>
          <a:xfrm>
            <a:off x="5183500" y="1904282"/>
            <a:ext cx="6170299" cy="422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35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FC5942C-619B-F8BB-9304-19201975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Yleisiä virheitä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949911E-6E38-B6D6-B41D-61112C2B3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React</a:t>
            </a:r>
            <a:r>
              <a:rPr lang="fi-FI" dirty="0"/>
              <a:t> komponentin nimen pitää alkaa isolla kirjaimella</a:t>
            </a:r>
          </a:p>
          <a:p>
            <a:r>
              <a:rPr lang="fi-FI" dirty="0"/>
              <a:t>Propsit on väärin:</a:t>
            </a:r>
          </a:p>
          <a:p>
            <a:pPr lvl="1"/>
            <a:r>
              <a:rPr lang="fi-FI" dirty="0"/>
              <a:t>Propsien nimet ovat eri komponentin määrittelyssä ja komponenttikutsussa</a:t>
            </a:r>
          </a:p>
          <a:p>
            <a:pPr lvl="1"/>
            <a:r>
              <a:rPr lang="fi-FI" dirty="0"/>
              <a:t>Propseja ei ole </a:t>
            </a:r>
            <a:r>
              <a:rPr lang="fi-FI" dirty="0" err="1"/>
              <a:t>destrukturoitu</a:t>
            </a:r>
            <a:r>
              <a:rPr lang="fi-FI" dirty="0"/>
              <a:t> oikein</a:t>
            </a:r>
          </a:p>
          <a:p>
            <a:r>
              <a:rPr lang="fi-FI" dirty="0"/>
              <a:t>Olioita (</a:t>
            </a:r>
            <a:r>
              <a:rPr lang="fi-FI" dirty="0" err="1"/>
              <a:t>object</a:t>
            </a:r>
            <a:r>
              <a:rPr lang="fi-FI" dirty="0"/>
              <a:t>) ei voi renderöidä</a:t>
            </a:r>
          </a:p>
          <a:p>
            <a:r>
              <a:rPr lang="fi-FI" dirty="0" err="1"/>
              <a:t>React</a:t>
            </a:r>
            <a:r>
              <a:rPr lang="fi-FI" dirty="0"/>
              <a:t> komponentin palauttavan JSX-elementin tulee yleensä sisältää yksi juuri elementti</a:t>
            </a:r>
          </a:p>
          <a:p>
            <a:pPr lvl="1"/>
            <a:r>
              <a:rPr lang="fi-FI" dirty="0"/>
              <a:t>Eli, jos näet virhe ilmoituksen ”</a:t>
            </a:r>
            <a:r>
              <a:rPr lang="en-US" dirty="0"/>
              <a:t> JSX expressions must have one parent element.” </a:t>
            </a:r>
            <a:r>
              <a:rPr lang="en-US" dirty="0" err="1"/>
              <a:t>siirrä</a:t>
            </a:r>
            <a:r>
              <a:rPr lang="en-US" dirty="0"/>
              <a:t> </a:t>
            </a:r>
            <a:r>
              <a:rPr lang="en-US" dirty="0" err="1"/>
              <a:t>komponentin</a:t>
            </a:r>
            <a:r>
              <a:rPr lang="en-US" dirty="0"/>
              <a:t> </a:t>
            </a:r>
            <a:r>
              <a:rPr lang="en-US" dirty="0" err="1"/>
              <a:t>kaikki</a:t>
            </a:r>
            <a:r>
              <a:rPr lang="en-US" dirty="0"/>
              <a:t> </a:t>
            </a:r>
            <a:r>
              <a:rPr lang="en-US" dirty="0" err="1"/>
              <a:t>elementit</a:t>
            </a:r>
            <a:r>
              <a:rPr lang="en-US" dirty="0"/>
              <a:t> </a:t>
            </a:r>
            <a:r>
              <a:rPr lang="en-US" dirty="0" err="1"/>
              <a:t>tyhjän</a:t>
            </a:r>
            <a:r>
              <a:rPr lang="en-US" dirty="0"/>
              <a:t> </a:t>
            </a:r>
            <a:r>
              <a:rPr lang="en-US" dirty="0" err="1"/>
              <a:t>elementin</a:t>
            </a:r>
            <a:r>
              <a:rPr lang="en-US" dirty="0"/>
              <a:t> </a:t>
            </a:r>
            <a:r>
              <a:rPr lang="en-US" dirty="0" err="1"/>
              <a:t>sisään</a:t>
            </a:r>
            <a:r>
              <a:rPr lang="en-US" dirty="0"/>
              <a:t>:         &lt;&gt; </a:t>
            </a:r>
            <a:r>
              <a:rPr lang="en-US" i="1" dirty="0" err="1"/>
              <a:t>muut</a:t>
            </a:r>
            <a:r>
              <a:rPr lang="en-US" i="1" dirty="0"/>
              <a:t> </a:t>
            </a:r>
            <a:r>
              <a:rPr lang="en-US" i="1" dirty="0" err="1"/>
              <a:t>komponentin</a:t>
            </a:r>
            <a:r>
              <a:rPr lang="en-US" i="1" dirty="0"/>
              <a:t> </a:t>
            </a:r>
            <a:r>
              <a:rPr lang="en-US" i="1" dirty="0" err="1"/>
              <a:t>elementit</a:t>
            </a:r>
            <a:r>
              <a:rPr lang="en-US" dirty="0"/>
              <a:t> &lt;/&gt; </a:t>
            </a:r>
          </a:p>
          <a:p>
            <a:r>
              <a:rPr lang="en-US" dirty="0" err="1"/>
              <a:t>Hookia</a:t>
            </a:r>
            <a:r>
              <a:rPr lang="en-US" dirty="0"/>
              <a:t>, </a:t>
            </a:r>
            <a:r>
              <a:rPr lang="en-US" dirty="0" err="1"/>
              <a:t>kuten</a:t>
            </a:r>
            <a:r>
              <a:rPr lang="en-US" dirty="0"/>
              <a:t> </a:t>
            </a:r>
            <a:r>
              <a:rPr lang="en-US" dirty="0" err="1"/>
              <a:t>useState</a:t>
            </a:r>
            <a:r>
              <a:rPr lang="en-US" dirty="0"/>
              <a:t>, </a:t>
            </a:r>
            <a:r>
              <a:rPr lang="en-US" dirty="0" err="1"/>
              <a:t>kutsutaan</a:t>
            </a:r>
            <a:r>
              <a:rPr lang="en-US" dirty="0"/>
              <a:t> </a:t>
            </a:r>
            <a:r>
              <a:rPr lang="en-US" dirty="0" err="1"/>
              <a:t>ehtolauseen</a:t>
            </a:r>
            <a:r>
              <a:rPr lang="en-US" dirty="0"/>
              <a:t> tai function </a:t>
            </a:r>
            <a:r>
              <a:rPr lang="en-US" dirty="0" err="1"/>
              <a:t>sisältä</a:t>
            </a:r>
            <a:endParaRPr lang="fi-FI" dirty="0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E2E21806-A4DE-C0A5-A3E5-D4B91B20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F8AF570E-0F52-D2BF-D431-126CBDF24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42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76D23C8-0C0F-5DF5-46B7-65B854E71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Debuggaus</a:t>
            </a:r>
            <a:r>
              <a:rPr lang="fi-FI" dirty="0"/>
              <a:t> työkaluja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13E8D17-8BBF-2BAC-D67E-BB53F0A88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Selaimen konsoli: pidä konsoli auki </a:t>
            </a:r>
            <a:r>
              <a:rPr lang="fi-FI" b="1" dirty="0"/>
              <a:t>aina</a:t>
            </a:r>
            <a:r>
              <a:rPr lang="fi-FI" dirty="0"/>
              <a:t>, kun koodaat web-sovellusta</a:t>
            </a:r>
          </a:p>
          <a:p>
            <a:r>
              <a:rPr lang="fi-FI" dirty="0"/>
              <a:t>Käytä paljon console.log</a:t>
            </a:r>
          </a:p>
          <a:p>
            <a:r>
              <a:rPr lang="fi-FI" dirty="0"/>
              <a:t>Älä lisää enempää koodia, jos huomaat, että sovellus ei enää toimi tai konsolissa näkyy virhe</a:t>
            </a:r>
          </a:p>
          <a:p>
            <a:r>
              <a:rPr lang="fi-FI" dirty="0" err="1"/>
              <a:t>Debugger</a:t>
            </a:r>
            <a:r>
              <a:rPr lang="fi-FI" dirty="0"/>
              <a:t>: selaimen </a:t>
            </a:r>
            <a:r>
              <a:rPr lang="fi-FI" dirty="0" err="1"/>
              <a:t>developer</a:t>
            </a:r>
            <a:r>
              <a:rPr lang="fi-FI" dirty="0"/>
              <a:t>-työkalujen </a:t>
            </a:r>
            <a:r>
              <a:rPr lang="fi-FI" dirty="0" err="1"/>
              <a:t>Sources</a:t>
            </a:r>
            <a:r>
              <a:rPr lang="fi-FI" dirty="0"/>
              <a:t>-välilehdeltä löytyy </a:t>
            </a:r>
            <a:r>
              <a:rPr lang="fi-FI" dirty="0" err="1"/>
              <a:t>debugger</a:t>
            </a:r>
            <a:r>
              <a:rPr lang="fi-FI" dirty="0"/>
              <a:t> työkalu, jolla voit lisätä koodiin </a:t>
            </a:r>
            <a:r>
              <a:rPr lang="fi-FI" dirty="0" err="1"/>
              <a:t>breakpointeja</a:t>
            </a:r>
            <a:r>
              <a:rPr lang="fi-FI" dirty="0"/>
              <a:t>. Tämä toimii samoin, kuin </a:t>
            </a:r>
            <a:r>
              <a:rPr lang="fi-FI" dirty="0" err="1"/>
              <a:t>vs</a:t>
            </a:r>
            <a:r>
              <a:rPr lang="fi-FI" dirty="0"/>
              <a:t> </a:t>
            </a:r>
            <a:r>
              <a:rPr lang="fi-FI" dirty="0" err="1"/>
              <a:t>coden</a:t>
            </a:r>
            <a:r>
              <a:rPr lang="fi-FI" dirty="0"/>
              <a:t> ja muiden kehitysympäristöjen debuggerit</a:t>
            </a:r>
          </a:p>
          <a:p>
            <a:r>
              <a:rPr lang="fi-FI" dirty="0"/>
              <a:t>Chromeen on saatavilla ”</a:t>
            </a:r>
            <a:r>
              <a:rPr lang="fi-FI" dirty="0" err="1"/>
              <a:t>React</a:t>
            </a:r>
            <a:r>
              <a:rPr lang="fi-FI" dirty="0"/>
              <a:t> </a:t>
            </a:r>
            <a:r>
              <a:rPr lang="fi-FI" dirty="0" err="1"/>
              <a:t>developer</a:t>
            </a:r>
            <a:r>
              <a:rPr lang="fi-FI" dirty="0"/>
              <a:t> </a:t>
            </a:r>
            <a:r>
              <a:rPr lang="fi-FI" dirty="0" err="1"/>
              <a:t>tools</a:t>
            </a:r>
            <a:r>
              <a:rPr lang="fi-FI" dirty="0"/>
              <a:t>”-lisäosa, jonka avulla voi tarkastella </a:t>
            </a:r>
            <a:r>
              <a:rPr lang="fi-FI" dirty="0" err="1"/>
              <a:t>React</a:t>
            </a:r>
            <a:r>
              <a:rPr lang="fi-FI" dirty="0"/>
              <a:t>-komponentteja ja niiden propseja ja tilaa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5E7313BF-75D8-EB36-330D-57FFF3D9D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 2026</a:t>
            </a:r>
            <a:endParaRPr lang="en-US" dirty="0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64771C0D-AE86-7262-E291-E12B2019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029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">
  <a:themeElements>
    <a:clrScheme name="Retro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213</TotalTime>
  <Words>1214</Words>
  <Application>Microsoft Office PowerPoint</Application>
  <PresentationFormat>Laajakuva</PresentationFormat>
  <Paragraphs>166</Paragraphs>
  <Slides>21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6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21</vt:i4>
      </vt:variant>
    </vt:vector>
  </HeadingPairs>
  <TitlesOfParts>
    <vt:vector size="28" baseType="lpstr">
      <vt:lpstr>Aptos</vt:lpstr>
      <vt:lpstr>Calibri</vt:lpstr>
      <vt:lpstr>Calibri Light</vt:lpstr>
      <vt:lpstr>Consolas</vt:lpstr>
      <vt:lpstr>Courier New</vt:lpstr>
      <vt:lpstr>Symbol</vt:lpstr>
      <vt:lpstr>Retro</vt:lpstr>
      <vt:lpstr>Full Stack osa 0-1 </vt:lpstr>
      <vt:lpstr>Web sovellusten toiminnan perusteet</vt:lpstr>
      <vt:lpstr>Selain ja palvelin</vt:lpstr>
      <vt:lpstr>Kertausta: HTML, CSS, JavaScript</vt:lpstr>
      <vt:lpstr>Perinteinen web-sovellus vs. single page application eli SPA</vt:lpstr>
      <vt:lpstr>React perusteet</vt:lpstr>
      <vt:lpstr>React</vt:lpstr>
      <vt:lpstr>Sovelluksen rakenne</vt:lpstr>
      <vt:lpstr>Sovelluksen rakenne</vt:lpstr>
      <vt:lpstr>Esimerkki useasta komponentista</vt:lpstr>
      <vt:lpstr>Props</vt:lpstr>
      <vt:lpstr>React sovelluksen luonti vite:llä</vt:lpstr>
      <vt:lpstr>Javascript</vt:lpstr>
      <vt:lpstr>Javascript: oliot</vt:lpstr>
      <vt:lpstr>Destrukturointi</vt:lpstr>
      <vt:lpstr>Siisti ohjelmointityyli</vt:lpstr>
      <vt:lpstr>Tilallinen komponentti</vt:lpstr>
      <vt:lpstr>Tapahtuman käsittely</vt:lpstr>
      <vt:lpstr>Tapahtuman käsittely</vt:lpstr>
      <vt:lpstr>Yleisiä virheitä</vt:lpstr>
      <vt:lpstr>Debuggaus työkaluja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osa 0-1 </dc:title>
  <dc:creator/>
  <cp:lastModifiedBy>Linn Tähti</cp:lastModifiedBy>
  <cp:revision>5</cp:revision>
  <dcterms:created xsi:type="dcterms:W3CDTF">2025-08-15T11:36:41Z</dcterms:created>
  <dcterms:modified xsi:type="dcterms:W3CDTF">2026-03-12T08:55:00Z</dcterms:modified>
</cp:coreProperties>
</file>